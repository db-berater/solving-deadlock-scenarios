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8" r:id="rId2"/>
  </p:sldMasterIdLst>
  <p:notesMasterIdLst>
    <p:notesMasterId r:id="rId30"/>
  </p:notesMasterIdLst>
  <p:sldIdLst>
    <p:sldId id="256" r:id="rId3"/>
    <p:sldId id="315" r:id="rId4"/>
    <p:sldId id="381" r:id="rId5"/>
    <p:sldId id="422" r:id="rId6"/>
    <p:sldId id="327" r:id="rId7"/>
    <p:sldId id="391" r:id="rId8"/>
    <p:sldId id="398" r:id="rId9"/>
    <p:sldId id="384" r:id="rId10"/>
    <p:sldId id="392" r:id="rId11"/>
    <p:sldId id="396" r:id="rId12"/>
    <p:sldId id="397" r:id="rId13"/>
    <p:sldId id="390" r:id="rId14"/>
    <p:sldId id="383" r:id="rId15"/>
    <p:sldId id="404" r:id="rId16"/>
    <p:sldId id="399" r:id="rId17"/>
    <p:sldId id="382" r:id="rId18"/>
    <p:sldId id="400" r:id="rId19"/>
    <p:sldId id="401" r:id="rId20"/>
    <p:sldId id="403" r:id="rId21"/>
    <p:sldId id="405" r:id="rId22"/>
    <p:sldId id="408" r:id="rId23"/>
    <p:sldId id="406" r:id="rId24"/>
    <p:sldId id="407" r:id="rId25"/>
    <p:sldId id="423" r:id="rId26"/>
    <p:sldId id="425" r:id="rId27"/>
    <p:sldId id="424" r:id="rId28"/>
    <p:sldId id="426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3A884-38A0-446F-AE2A-81CED00CF2B0}" v="46" dt="2025-11-11T16:37:36.9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120" y="250"/>
      </p:cViewPr>
      <p:guideLst>
        <p:guide orient="horz" pos="2273"/>
        <p:guide pos="3840"/>
        <p:guide orient="horz" pos="16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undo custSel addSld delSld modSld sldOrd delMainMaster modMainMaster">
      <pc:chgData name="Uwe Ricken" userId="f02567aecbed924b" providerId="LiveId" clId="{E77B627B-1F43-41A9-9F24-D4BB31BF6050}" dt="2025-11-11T16:42:38.925" v="99" actId="729"/>
      <pc:docMkLst>
        <pc:docMk/>
      </pc:docMkLst>
      <pc:sldChg chg="addSp delSp modSp mod modShow">
        <pc:chgData name="Uwe Ricken" userId="f02567aecbed924b" providerId="LiveId" clId="{E77B627B-1F43-41A9-9F24-D4BB31BF6050}" dt="2025-11-11T16:42:38.925" v="99" actId="729"/>
        <pc:sldMkLst>
          <pc:docMk/>
          <pc:sldMk cId="3145909516" sldId="256"/>
        </pc:sldMkLst>
      </pc:sldChg>
      <pc:sldChg chg="modSp mod">
        <pc:chgData name="Uwe Ricken" userId="f02567aecbed924b" providerId="LiveId" clId="{E77B627B-1F43-41A9-9F24-D4BB31BF6050}" dt="2025-11-11T16:32:48.318" v="89" actId="790"/>
        <pc:sldMkLst>
          <pc:docMk/>
          <pc:sldMk cId="1252969730" sldId="315"/>
        </pc:sldMkLst>
        <pc:spChg chg="mod">
          <ac:chgData name="Uwe Ricken" userId="f02567aecbed924b" providerId="LiveId" clId="{E77B627B-1F43-41A9-9F24-D4BB31BF6050}" dt="2025-11-11T16:32:48.318" v="89" actId="790"/>
          <ac:spMkLst>
            <pc:docMk/>
            <pc:sldMk cId="1252969730" sldId="315"/>
            <ac:spMk id="2" creationId="{2AA66F59-B715-4CE2-83DF-6D035DD595FA}"/>
          </ac:spMkLst>
        </pc:spChg>
        <pc:spChg chg="mod">
          <ac:chgData name="Uwe Ricken" userId="f02567aecbed924b" providerId="LiveId" clId="{E77B627B-1F43-41A9-9F24-D4BB31BF6050}" dt="2025-11-11T16:32:48.318" v="89" actId="790"/>
          <ac:spMkLst>
            <pc:docMk/>
            <pc:sldMk cId="1252969730" sldId="315"/>
            <ac:spMk id="3" creationId="{32727BD7-7924-41DC-BF8D-0990B5F36E59}"/>
          </ac:spMkLst>
        </pc:spChg>
      </pc:sldChg>
      <pc:sldChg chg="modSp mod ord">
        <pc:chgData name="Uwe Ricken" userId="f02567aecbed924b" providerId="LiveId" clId="{E77B627B-1F43-41A9-9F24-D4BB31BF6050}" dt="2025-10-17T07:59:28.496" v="61" actId="20577"/>
        <pc:sldMkLst>
          <pc:docMk/>
          <pc:sldMk cId="1313276407" sldId="382"/>
        </pc:sldMkLst>
        <pc:spChg chg="mod">
          <ac:chgData name="Uwe Ricken" userId="f02567aecbed924b" providerId="LiveId" clId="{E77B627B-1F43-41A9-9F24-D4BB31BF6050}" dt="2025-10-17T07:59:28.496" v="61" actId="20577"/>
          <ac:spMkLst>
            <pc:docMk/>
            <pc:sldMk cId="1313276407" sldId="382"/>
            <ac:spMk id="2" creationId="{795C4EDA-0E45-AE7F-692A-A895059972F1}"/>
          </ac:spMkLst>
        </pc:spChg>
      </pc:sldChg>
      <pc:sldChg chg="modSp mod">
        <pc:chgData name="Uwe Ricken" userId="f02567aecbed924b" providerId="LiveId" clId="{E77B627B-1F43-41A9-9F24-D4BB31BF6050}" dt="2025-11-11T16:32:20.822" v="88" actId="790"/>
        <pc:sldMkLst>
          <pc:docMk/>
          <pc:sldMk cId="694014805" sldId="384"/>
        </pc:sldMkLst>
        <pc:spChg chg="mod">
          <ac:chgData name="Uwe Ricken" userId="f02567aecbed924b" providerId="LiveId" clId="{E77B627B-1F43-41A9-9F24-D4BB31BF6050}" dt="2025-11-11T16:32:20.822" v="88" actId="790"/>
          <ac:spMkLst>
            <pc:docMk/>
            <pc:sldMk cId="694014805" sldId="384"/>
            <ac:spMk id="2" creationId="{0B9404A9-E76A-F33E-3297-5217BC2A290C}"/>
          </ac:spMkLst>
        </pc:spChg>
        <pc:spChg chg="mod">
          <ac:chgData name="Uwe Ricken" userId="f02567aecbed924b" providerId="LiveId" clId="{E77B627B-1F43-41A9-9F24-D4BB31BF6050}" dt="2025-11-11T16:32:20.822" v="88" actId="790"/>
          <ac:spMkLst>
            <pc:docMk/>
            <pc:sldMk cId="694014805" sldId="384"/>
            <ac:spMk id="6" creationId="{0F464D27-6B3F-686F-7ECB-8EC444B8710A}"/>
          </ac:spMkLst>
        </pc:spChg>
        <pc:graphicFrameChg chg="modGraphic">
          <ac:chgData name="Uwe Ricken" userId="f02567aecbed924b" providerId="LiveId" clId="{E77B627B-1F43-41A9-9F24-D4BB31BF6050}" dt="2025-11-11T16:32:20.822" v="88" actId="790"/>
          <ac:graphicFrameMkLst>
            <pc:docMk/>
            <pc:sldMk cId="694014805" sldId="384"/>
            <ac:graphicFrameMk id="4" creationId="{F7E3314F-D30D-3B5C-9D39-3008654B8A08}"/>
          </ac:graphicFrameMkLst>
        </pc:graphicFrameChg>
      </pc:sldChg>
      <pc:sldChg chg="modSp modNotesTx">
        <pc:chgData name="Uwe Ricken" userId="f02567aecbed924b" providerId="LiveId" clId="{E77B627B-1F43-41A9-9F24-D4BB31BF6050}" dt="2025-11-11T16:34:55.979" v="97" actId="20577"/>
        <pc:sldMkLst>
          <pc:docMk/>
          <pc:sldMk cId="3452348964" sldId="396"/>
        </pc:sldMkLst>
        <pc:spChg chg="mod">
          <ac:chgData name="Uwe Ricken" userId="f02567aecbed924b" providerId="LiveId" clId="{E77B627B-1F43-41A9-9F24-D4BB31BF6050}" dt="2025-11-11T16:34:22.120" v="94" actId="20577"/>
          <ac:spMkLst>
            <pc:docMk/>
            <pc:sldMk cId="3452348964" sldId="396"/>
            <ac:spMk id="5" creationId="{37DACC03-174B-F348-4FF0-CF8D4A99EC80}"/>
          </ac:spMkLst>
        </pc:spChg>
      </pc:sldChg>
      <pc:sldChg chg="modSp mod">
        <pc:chgData name="Uwe Ricken" userId="f02567aecbed924b" providerId="LiveId" clId="{E77B627B-1F43-41A9-9F24-D4BB31BF6050}" dt="2025-11-11T16:34:00.553" v="91" actId="313"/>
        <pc:sldMkLst>
          <pc:docMk/>
          <pc:sldMk cId="2340043209" sldId="398"/>
        </pc:sldMkLst>
        <pc:spChg chg="mod">
          <ac:chgData name="Uwe Ricken" userId="f02567aecbed924b" providerId="LiveId" clId="{E77B627B-1F43-41A9-9F24-D4BB31BF6050}" dt="2025-11-11T16:31:57.155" v="87" actId="790"/>
          <ac:spMkLst>
            <pc:docMk/>
            <pc:sldMk cId="2340043209" sldId="398"/>
            <ac:spMk id="2" creationId="{68406918-FCAB-1372-4923-90999B455733}"/>
          </ac:spMkLst>
        </pc:spChg>
        <pc:graphicFrameChg chg="modGraphic">
          <ac:chgData name="Uwe Ricken" userId="f02567aecbed924b" providerId="LiveId" clId="{E77B627B-1F43-41A9-9F24-D4BB31BF6050}" dt="2025-11-11T16:34:00.553" v="91" actId="313"/>
          <ac:graphicFrameMkLst>
            <pc:docMk/>
            <pc:sldMk cId="2340043209" sldId="398"/>
            <ac:graphicFrameMk id="4" creationId="{4CC8899C-52EE-A8F5-6A63-E2DB55FED7C2}"/>
          </ac:graphicFrameMkLst>
        </pc:graphicFrameChg>
      </pc:sldChg>
      <pc:sldChg chg="addSp modSp mod modAnim">
        <pc:chgData name="Uwe Ricken" userId="f02567aecbed924b" providerId="LiveId" clId="{E77B627B-1F43-41A9-9F24-D4BB31BF6050}" dt="2025-10-17T08:23:02.677" v="63" actId="179"/>
        <pc:sldMkLst>
          <pc:docMk/>
          <pc:sldMk cId="3939206335" sldId="425"/>
        </pc:sldMkLst>
        <pc:spChg chg="mod">
          <ac:chgData name="Uwe Ricken" userId="f02567aecbed924b" providerId="LiveId" clId="{E77B627B-1F43-41A9-9F24-D4BB31BF6050}" dt="2025-10-17T08:23:02.677" v="63" actId="179"/>
          <ac:spMkLst>
            <pc:docMk/>
            <pc:sldMk cId="3939206335" sldId="425"/>
            <ac:spMk id="5" creationId="{4CB2A8F3-E55E-7AEF-453C-83927AA140C3}"/>
          </ac:spMkLst>
        </pc:spChg>
      </pc:sldChg>
      <pc:sldChg chg="addSp delSp modSp mod">
        <pc:chgData name="Uwe Ricken" userId="f02567aecbed924b" providerId="LiveId" clId="{E77B627B-1F43-41A9-9F24-D4BB31BF6050}" dt="2025-10-30T06:00:10.128" v="85" actId="478"/>
        <pc:sldMkLst>
          <pc:docMk/>
          <pc:sldMk cId="216906354" sldId="426"/>
        </pc:sldMkLst>
      </pc:sldChg>
      <pc:sldMasterChg chg="modSp mod">
        <pc:chgData name="Uwe Ricken" userId="f02567aecbed924b" providerId="LiveId" clId="{E77B627B-1F43-41A9-9F24-D4BB31BF6050}" dt="2025-11-11T16:37:32.252" v="98" actId="790"/>
        <pc:sldMasterMkLst>
          <pc:docMk/>
          <pc:sldMasterMk cId="892119104" sldId="2147483660"/>
        </pc:sldMasterMkLst>
        <pc:spChg chg="mod">
          <ac:chgData name="Uwe Ricken" userId="f02567aecbed924b" providerId="LiveId" clId="{E77B627B-1F43-41A9-9F24-D4BB31BF6050}" dt="2025-11-11T16:37:32.252" v="98" actId="790"/>
          <ac:spMkLst>
            <pc:docMk/>
            <pc:sldMasterMk cId="892119104" sldId="2147483660"/>
            <ac:spMk id="4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19B01-702D-4879-AE3A-0F34CD7B4394}" type="datetimeFigureOut">
              <a:rPr lang="en-US" smtClean="0"/>
              <a:t>11/11/2025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D87099-C0C6-4F38-9801-AB4DAE2F271C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6540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25FEC-7C18-60B8-98B1-60D0F5B8C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5E642F-23D6-52E3-EBD2-5C2DF0A17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3AA8CF4-52D7-91A4-F045-1784645DF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E34B57-B026-F483-9802-E5E07F12C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344A-B714-4F18-AE6B-1553157C321A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775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FB60-BC53-6F1B-398D-0F6A52E5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92FD164-FF45-E917-64D4-A0CC57627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6ECBD2-6E2A-E80A-96E3-48DD92D59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DAC099-C21C-92EF-5A1A-DBB435AC5D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344A-B714-4F18-AE6B-1553157C321A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7464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8901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3392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52765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0956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27589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59241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09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59790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>
          <p15:clr>
            <a:srgbClr val="FBAE40"/>
          </p15:clr>
        </p15:guide>
        <p15:guide id="5" orient="horz" pos="232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6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3" y="1665288"/>
            <a:ext cx="11522077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4568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25084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69617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20027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56371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091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hyperlink" Target="http://www.db-berater.de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hyperlink" Target="http://www.db-berater.de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/>
              <a:t>Planung – Installation</a:t>
            </a:r>
            <a:r>
              <a:rPr lang="en-US" sz="1000" b="1" baseline="0" noProof="0" dirty="0"/>
              <a:t> – 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2025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892119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/>
              <a:t>Planung – Installation</a:t>
            </a:r>
            <a:r>
              <a:rPr lang="en-US" sz="1000" b="1" baseline="0" noProof="0" dirty="0"/>
              <a:t> – 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noProof="0" dirty="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2025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3389861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 orient="horz" pos="278">
          <p15:clr>
            <a:srgbClr val="F26B43"/>
          </p15:clr>
        </p15:guide>
        <p15:guide id="3" pos="211">
          <p15:clr>
            <a:srgbClr val="F26B43"/>
          </p15:clr>
        </p15:guide>
        <p15:guide id="4" pos="5654">
          <p15:clr>
            <a:srgbClr val="F26B43"/>
          </p15:clr>
        </p15:guide>
        <p15:guide id="5" orient="horz" pos="98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b-berater.de/downloads/ERP_Demo_2012.bak" TargetMode="External"/><Relationship Id="rId2" Type="http://schemas.openxmlformats.org/officeDocument/2006/relationships/hyperlink" Target="https://github.com/db-berater/solving-deadlock-scenarios" TargetMode="Externa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go.microsoft.com/fwlink/?linkid=2220149&amp;clcid=0x407&amp;culture=de-de&amp;country=de" TargetMode="External"/><Relationship Id="rId4" Type="http://schemas.openxmlformats.org/officeDocument/2006/relationships/hyperlink" Target="https://github.com/ErikEJ/SqlQueryStres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2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.png"/><Relationship Id="rId5" Type="http://schemas.openxmlformats.org/officeDocument/2006/relationships/hyperlink" Target="https://bsky.app/profile/sqlbambi.bsky.social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challenges.de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sql/relational-databases/media/sql-server-transaction-locking-and-row-versioning-guide/sql-server-lock-conflict-compatibility.png?view=sql-server-ver16#lightbox" TargetMode="Externa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solving-deadlock-scenarios" TargetMode="External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3F2781-03F5-529F-F38B-F5D4FD12CC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Deadlock Scenarios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4BE029-9EF0-3C13-9557-100970EE12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How to solve Deadlock Scenarios</a:t>
            </a:r>
          </a:p>
        </p:txBody>
      </p:sp>
    </p:spTree>
    <p:extLst>
      <p:ext uri="{BB962C8B-B14F-4D97-AF65-F5344CB8AC3E}">
        <p14:creationId xmlns:p14="http://schemas.microsoft.com/office/powerpoint/2010/main" val="3145909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66F59-B715-4CE2-83DF-6D035DD5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Links for this Session/Workshop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727BD7-7924-41DC-BF8D-0990B5F36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Scripts and Slide Decks</a:t>
            </a:r>
            <a:br>
              <a:rPr lang="en-US" noProof="0" dirty="0"/>
            </a:br>
            <a:r>
              <a:rPr lang="en-US" noProof="0" dirty="0">
                <a:hlinkClick r:id="rId2"/>
              </a:rPr>
              <a:t>https://github.com/db-berater/solving-deadlock-scenarios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ERP Demo Database (17.00 GB)</a:t>
            </a:r>
            <a:br>
              <a:rPr lang="en-US" noProof="0" dirty="0"/>
            </a:br>
            <a:r>
              <a:rPr lang="en-US" noProof="0" dirty="0">
                <a:hlinkClick r:id="rId3"/>
              </a:rPr>
              <a:t>https://db-berater.de/downloads/ERP_Demo_2012.bak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SQLQueryStress</a:t>
            </a:r>
            <a:br>
              <a:rPr lang="en-US" noProof="0" dirty="0"/>
            </a:br>
            <a:r>
              <a:rPr lang="en-US" noProof="0" dirty="0">
                <a:hlinkClick r:id="rId4"/>
              </a:rPr>
              <a:t>https://github.com/ErikEJ/SqlQueryStress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Windows Admin Center</a:t>
            </a:r>
            <a:br>
              <a:rPr lang="en-US" noProof="0" dirty="0"/>
            </a:br>
            <a:r>
              <a:rPr lang="en-US" noProof="0" dirty="0">
                <a:hlinkClick r:id="rId5"/>
              </a:rPr>
              <a:t>https://go.microsoft.com/fwlink/?linkid=2220149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529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1800" b="0" dirty="0"/>
              <a:t>db </a:t>
            </a:r>
            <a:r>
              <a:rPr lang="de-DE" sz="1800" b="0" dirty="0">
                <a:solidFill>
                  <a:schemeClr val="tx1"/>
                </a:solidFill>
              </a:rPr>
              <a:t>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working in 3rd level support teams for banks, insurances and global industries.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Since May 2013 I am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BlueSky</a:t>
            </a:r>
            <a:r>
              <a:rPr lang="de-DE" sz="1400" dirty="0"/>
              <a:t>:	</a:t>
            </a:r>
            <a:r>
              <a:rPr lang="de-DE" sz="1400" dirty="0">
                <a:hlinkClick r:id="rId5"/>
              </a:rPr>
              <a:t>@sqlbambi</a:t>
            </a: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187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5341E920-2BA9-C6AC-D645-F3BC0BFB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066" y="2149215"/>
            <a:ext cx="6488975" cy="3617602"/>
          </a:xfrm>
          <a:prstGeom prst="rect">
            <a:avLst/>
          </a:prstGeom>
          <a:noFill/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D5F1E84-96EA-2FC2-EB23-C97E371D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Get a challenge at least once a month</a:t>
            </a:r>
          </a:p>
          <a:p>
            <a:r>
              <a:rPr lang="en-US" dirty="0"/>
              <a:t>Connect to a provided SQL Server Instance</a:t>
            </a:r>
          </a:p>
          <a:p>
            <a:r>
              <a:rPr lang="en-US" dirty="0"/>
              <a:t>Load the challenge scenario</a:t>
            </a:r>
          </a:p>
          <a:p>
            <a:r>
              <a:rPr lang="en-US" dirty="0"/>
              <a:t>Try to solve it</a:t>
            </a:r>
          </a:p>
          <a:p>
            <a:r>
              <a:rPr lang="en-US" dirty="0"/>
              <a:t>Blog about your solution</a:t>
            </a:r>
          </a:p>
          <a:p>
            <a:r>
              <a:rPr lang="en-US" dirty="0"/>
              <a:t>Leave a link in the comments of the challenge to your blog post.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https://sqlchallenges.de</a:t>
            </a: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6F77BBF-034A-A53E-C4B8-E4039AC9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Challenge SQL Server real world scenarios</a:t>
            </a:r>
          </a:p>
        </p:txBody>
      </p:sp>
    </p:spTree>
    <p:extLst>
      <p:ext uri="{BB962C8B-B14F-4D97-AF65-F5344CB8AC3E}">
        <p14:creationId xmlns:p14="http://schemas.microsoft.com/office/powerpoint/2010/main" val="92011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9AE4D88-466F-4BA6-917F-396AC585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584846F-DF71-4A64-98B4-A74662F88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Lock Types</a:t>
            </a:r>
          </a:p>
          <a:p>
            <a:r>
              <a:rPr lang="en-GB" dirty="0"/>
              <a:t>Transaction Isolation Levels</a:t>
            </a:r>
          </a:p>
          <a:p>
            <a:pPr lvl="1"/>
            <a:r>
              <a:rPr lang="en-GB" dirty="0"/>
              <a:t>Pessimistic Isolation Levels</a:t>
            </a:r>
          </a:p>
          <a:p>
            <a:pPr lvl="1"/>
            <a:r>
              <a:rPr lang="en-GB" dirty="0"/>
              <a:t>Optimistic Isolation Levels</a:t>
            </a:r>
          </a:p>
          <a:p>
            <a:r>
              <a:rPr lang="en-GB" dirty="0"/>
              <a:t>Deadlock Scenarios</a:t>
            </a:r>
          </a:p>
          <a:p>
            <a:pPr lvl="1"/>
            <a:r>
              <a:rPr lang="en-GB" dirty="0"/>
              <a:t>Classic deadlock</a:t>
            </a:r>
          </a:p>
          <a:p>
            <a:pPr lvl="1"/>
            <a:r>
              <a:rPr lang="en-GB" dirty="0"/>
              <a:t>Deadlock with referential integrity</a:t>
            </a:r>
          </a:p>
          <a:p>
            <a:pPr lvl="1"/>
            <a:r>
              <a:rPr lang="en-GB" dirty="0"/>
              <a:t>Deadlock with only one table involved</a:t>
            </a:r>
          </a:p>
        </p:txBody>
      </p:sp>
    </p:spTree>
    <p:extLst>
      <p:ext uri="{BB962C8B-B14F-4D97-AF65-F5344CB8AC3E}">
        <p14:creationId xmlns:p14="http://schemas.microsoft.com/office/powerpoint/2010/main" val="4195874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8F939-F04F-D046-762B-D7E2721EE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0C33245-5577-F3C9-2635-245D40AC5B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Lock Types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98A8B687-D742-D86C-95AF-69F43C1FFF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2393891" algn="l"/>
              </a:tabLst>
            </a:pPr>
            <a:r>
              <a:rPr lang="en-US" dirty="0"/>
              <a:t>	controlling the management of </a:t>
            </a:r>
            <a:r>
              <a:rPr lang="en-US" b="1" dirty="0"/>
              <a:t>concurrency</a:t>
            </a:r>
          </a:p>
        </p:txBody>
      </p:sp>
    </p:spTree>
    <p:extLst>
      <p:ext uri="{BB962C8B-B14F-4D97-AF65-F5344CB8AC3E}">
        <p14:creationId xmlns:p14="http://schemas.microsoft.com/office/powerpoint/2010/main" val="418670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06918-FCAB-1372-4923-90999B45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Lock Types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CC8899C-52EE-A8F5-6A63-E2DB55FED7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0814281"/>
              </p:ext>
            </p:extLst>
          </p:nvPr>
        </p:nvGraphicFramePr>
        <p:xfrm>
          <a:off x="334963" y="1665288"/>
          <a:ext cx="11522073" cy="397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884">
                  <a:extLst>
                    <a:ext uri="{9D8B030D-6E8A-4147-A177-3AD203B41FA5}">
                      <a16:colId xmlns:a16="http://schemas.microsoft.com/office/drawing/2014/main" val="2980139176"/>
                    </a:ext>
                  </a:extLst>
                </a:gridCol>
                <a:gridCol w="1538714">
                  <a:extLst>
                    <a:ext uri="{9D8B030D-6E8A-4147-A177-3AD203B41FA5}">
                      <a16:colId xmlns:a16="http://schemas.microsoft.com/office/drawing/2014/main" val="3150265552"/>
                    </a:ext>
                  </a:extLst>
                </a:gridCol>
                <a:gridCol w="8035475">
                  <a:extLst>
                    <a:ext uri="{9D8B030D-6E8A-4147-A177-3AD203B41FA5}">
                      <a16:colId xmlns:a16="http://schemas.microsoft.com/office/drawing/2014/main" val="4149715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Lock Intension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Lock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1949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Exclusive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lock type, when imposed, will ensure that a page or row will be reserved </a:t>
                      </a:r>
                      <a:r>
                        <a:rPr lang="en-US" sz="1400" b="0" i="1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exclusively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for the transaction that imposed the exclusive lock, as long as the transaction holds the lock.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80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Shared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lock type, when imposed, will reserve a page or row to be available only for reading, which means that any other transaction will be prevented to modify the locked record as long as the lock is active.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825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Update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lock is similar to an exclusive lock but is designed to be more flexible in a way. An update lock can be imposed on a record that already has a shared lock. In such a case, the update lock will impose another shared lock on the target row.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07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Intent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I</a:t>
                      </a:r>
                      <a:r>
                        <a:rPr lang="en-US" sz="1400" dirty="0"/>
                        <a:t> (X/S/U)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this lock is a means used by a transaction to inform another transaction about its </a:t>
                      </a:r>
                      <a:r>
                        <a:rPr lang="en-US" sz="14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to acquire a lock. 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849477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400" b="1" noProof="0" dirty="0"/>
                        <a:t>Conversion</a:t>
                      </a:r>
                      <a:r>
                        <a:rPr lang="en-US" sz="1400" b="1" dirty="0"/>
                        <a:t> Locks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66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Shared w Intent exclusive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SI</a:t>
                      </a:r>
                      <a:r>
                        <a:rPr lang="en-US" sz="1400" dirty="0"/>
                        <a:t>(X/U)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acquired, this lock indicates that the transaction intends to read all resources at a lower hierarchy and thus acquire the shared lock on all resources that are lower in hierarchy, and in turn, to modify part of those, but not all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3316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0043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9404A9-E76A-F33E-3297-5217BC2A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Lock Status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7E3314F-D30D-3B5C-9D39-3008654B8A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883732"/>
              </p:ext>
            </p:extLst>
          </p:nvPr>
        </p:nvGraphicFramePr>
        <p:xfrm>
          <a:off x="393487" y="1951085"/>
          <a:ext cx="11449823" cy="3601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5689">
                  <a:extLst>
                    <a:ext uri="{9D8B030D-6E8A-4147-A177-3AD203B41FA5}">
                      <a16:colId xmlns:a16="http://schemas.microsoft.com/office/drawing/2014/main" val="2895370837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893720033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4064240559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1325247522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2560272441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1524949142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1726701743"/>
                    </a:ext>
                  </a:extLst>
                </a:gridCol>
              </a:tblGrid>
              <a:tr h="450144">
                <a:tc>
                  <a:txBody>
                    <a:bodyPr/>
                    <a:lstStyle/>
                    <a:p>
                      <a:pPr algn="ctr"/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1400" noProof="0" dirty="0">
                          <a:latin typeface="+mn-lt"/>
                        </a:rPr>
                        <a:t>Hold Lock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129860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Request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SIX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707320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IS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301025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1156401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34086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013058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SIX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011490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832669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0F464D27-6B3F-686F-7ECB-8EC444B8710A}"/>
              </a:ext>
            </a:extLst>
          </p:cNvPr>
          <p:cNvSpPr txBox="1"/>
          <p:nvPr/>
        </p:nvSpPr>
        <p:spPr>
          <a:xfrm>
            <a:off x="334962" y="5657671"/>
            <a:ext cx="1150834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noProof="0" dirty="0">
                <a:hlinkClick r:id="rId2"/>
              </a:rPr>
              <a:t>https://learn.microsoft.com/en-us/sql/relational-databases/media/sql-server-transaction-locking-and-row-versioning-guide/sql-server-lock-conflict-compatibility.png</a:t>
            </a:r>
            <a:endParaRPr lang="en-US" sz="1000" noProof="0" dirty="0"/>
          </a:p>
        </p:txBody>
      </p:sp>
    </p:spTree>
    <p:extLst>
      <p:ext uri="{BB962C8B-B14F-4D97-AF65-F5344CB8AC3E}">
        <p14:creationId xmlns:p14="http://schemas.microsoft.com/office/powerpoint/2010/main" val="694014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5BDDA-B805-8BCE-1070-B32C10B00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Locking Hierarchy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0C45819-93D3-FE6E-080E-50F2A080A1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554126"/>
              </p:ext>
            </p:extLst>
          </p:nvPr>
        </p:nvGraphicFramePr>
        <p:xfrm>
          <a:off x="334963" y="1665288"/>
          <a:ext cx="11522074" cy="243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954">
                  <a:extLst>
                    <a:ext uri="{9D8B030D-6E8A-4147-A177-3AD203B41FA5}">
                      <a16:colId xmlns:a16="http://schemas.microsoft.com/office/drawing/2014/main" val="4193262162"/>
                    </a:ext>
                  </a:extLst>
                </a:gridCol>
                <a:gridCol w="1175555">
                  <a:extLst>
                    <a:ext uri="{9D8B030D-6E8A-4147-A177-3AD203B41FA5}">
                      <a16:colId xmlns:a16="http://schemas.microsoft.com/office/drawing/2014/main" val="1800965133"/>
                    </a:ext>
                  </a:extLst>
                </a:gridCol>
                <a:gridCol w="2626157">
                  <a:extLst>
                    <a:ext uri="{9D8B030D-6E8A-4147-A177-3AD203B41FA5}">
                      <a16:colId xmlns:a16="http://schemas.microsoft.com/office/drawing/2014/main" val="1060759863"/>
                    </a:ext>
                  </a:extLst>
                </a:gridCol>
                <a:gridCol w="775411">
                  <a:extLst>
                    <a:ext uri="{9D8B030D-6E8A-4147-A177-3AD203B41FA5}">
                      <a16:colId xmlns:a16="http://schemas.microsoft.com/office/drawing/2014/main" val="155187064"/>
                    </a:ext>
                  </a:extLst>
                </a:gridCol>
                <a:gridCol w="5821997">
                  <a:extLst>
                    <a:ext uri="{9D8B030D-6E8A-4147-A177-3AD203B41FA5}">
                      <a16:colId xmlns:a16="http://schemas.microsoft.com/office/drawing/2014/main" val="8604083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Read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Write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771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315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or X with LOCK ESCALATION</a:t>
                      </a:r>
                      <a:r>
                        <a:rPr lang="en-US" sz="1600" b="1" dirty="0"/>
                        <a:t>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38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if LOCK_ESCALATION = AUTO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09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or S if the table is a HEAP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8214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653538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C46A2AB-6990-B8E7-5B41-D1A664FB5039}"/>
              </a:ext>
            </a:extLst>
          </p:cNvPr>
          <p:cNvSpPr txBox="1"/>
          <p:nvPr/>
        </p:nvSpPr>
        <p:spPr>
          <a:xfrm>
            <a:off x="334963" y="4308653"/>
            <a:ext cx="115220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/>
            <a:r>
              <a:rPr lang="en-US" b="1" dirty="0"/>
              <a:t>*</a:t>
            </a:r>
            <a:r>
              <a:rPr lang="en-US" dirty="0"/>
              <a:t>	Lock escalation in SQL Server is the process of converting many fine-grained locks (like row or page locks) into fewer coarse-grained locks (like table locks) to reduce system overhead.</a:t>
            </a:r>
          </a:p>
        </p:txBody>
      </p:sp>
    </p:spTree>
    <p:extLst>
      <p:ext uri="{BB962C8B-B14F-4D97-AF65-F5344CB8AC3E}">
        <p14:creationId xmlns:p14="http://schemas.microsoft.com/office/powerpoint/2010/main" val="927822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B98D-76BD-EAF6-7E46-D2B369C1D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DACC03-174B-F348-4FF0-CF8D4A99E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dbo.customers</a:t>
            </a: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SET  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 Ricken’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WHERE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</a:t>
            </a:r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10403C-EE6E-1739-5879-48BABF7AAF9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el 9">
            <a:extLst>
              <a:ext uri="{FF2B5EF4-FFF2-40B4-BE49-F238E27FC236}">
                <a16:creationId xmlns:a16="http://schemas.microsoft.com/office/drawing/2014/main" id="{01CEFF14-F699-362B-9174-501AC1FCF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Locking Hierarchy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74E2B07-040C-CDF1-4DEF-4C40F0123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657268"/>
              </p:ext>
            </p:extLst>
          </p:nvPr>
        </p:nvGraphicFramePr>
        <p:xfrm>
          <a:off x="1814944" y="1564246"/>
          <a:ext cx="2817218" cy="77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23">
                  <a:extLst>
                    <a:ext uri="{9D8B030D-6E8A-4147-A177-3AD203B41FA5}">
                      <a16:colId xmlns:a16="http://schemas.microsoft.com/office/drawing/2014/main" val="2872294666"/>
                    </a:ext>
                  </a:extLst>
                </a:gridCol>
                <a:gridCol w="616267">
                  <a:extLst>
                    <a:ext uri="{9D8B030D-6E8A-4147-A177-3AD203B41FA5}">
                      <a16:colId xmlns:a16="http://schemas.microsoft.com/office/drawing/2014/main" val="2542042051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1071245696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3540005839"/>
                    </a:ext>
                  </a:extLst>
                </a:gridCol>
              </a:tblGrid>
              <a:tr h="23412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HEAP / (non)clustered Index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0101897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7130636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871036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F8EB0B7E-472A-1EBC-DC1D-5F2EE0BBEBFA}"/>
              </a:ext>
            </a:extLst>
          </p:cNvPr>
          <p:cNvSpPr txBox="1"/>
          <p:nvPr/>
        </p:nvSpPr>
        <p:spPr>
          <a:xfrm>
            <a:off x="2192480" y="3124111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Partition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2CF737-2FF1-BD87-1010-360C9F2DF6BC}"/>
              </a:ext>
            </a:extLst>
          </p:cNvPr>
          <p:cNvSpPr txBox="1"/>
          <p:nvPr/>
        </p:nvSpPr>
        <p:spPr>
          <a:xfrm>
            <a:off x="2192480" y="4002646"/>
            <a:ext cx="2001982" cy="19887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>
              <a:tabLst>
                <a:tab pos="360363" algn="l"/>
              </a:tabLst>
            </a:pPr>
            <a:r>
              <a:rPr lang="en-US" sz="1000" dirty="0"/>
              <a:t>1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2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3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b="1" dirty="0"/>
              <a:t>10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3B32212-A667-1AEB-6132-B64C50D0E9C2}"/>
              </a:ext>
            </a:extLst>
          </p:cNvPr>
          <p:cNvSpPr txBox="1"/>
          <p:nvPr/>
        </p:nvSpPr>
        <p:spPr>
          <a:xfrm>
            <a:off x="2198829" y="3651956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360363" algn="l"/>
              </a:tabLst>
            </a:pPr>
            <a:r>
              <a:rPr lang="en-US" sz="1400" b="1" dirty="0"/>
              <a:t>	PAGE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FDB68232-60E5-384D-6C49-59290D49EB07}"/>
              </a:ext>
            </a:extLst>
          </p:cNvPr>
          <p:cNvSpPr txBox="1"/>
          <p:nvPr/>
        </p:nvSpPr>
        <p:spPr>
          <a:xfrm>
            <a:off x="4006607" y="1893322"/>
            <a:ext cx="4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IX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FEE748-6D1A-EA8A-53A2-9EFF5CA57DA7}"/>
              </a:ext>
            </a:extLst>
          </p:cNvPr>
          <p:cNvSpPr txBox="1"/>
          <p:nvPr/>
        </p:nvSpPr>
        <p:spPr>
          <a:xfrm>
            <a:off x="2192480" y="3651956"/>
            <a:ext cx="463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IX</a:t>
            </a:r>
          </a:p>
        </p:txBody>
      </p: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3082B1B7-25FA-8A4C-856E-F8E7B8CB861F}"/>
              </a:ext>
            </a:extLst>
          </p:cNvPr>
          <p:cNvCxnSpPr>
            <a:cxnSpLocks/>
            <a:stCxn id="2" idx="1"/>
            <a:endCxn id="7" idx="1"/>
          </p:cNvCxnSpPr>
          <p:nvPr/>
        </p:nvCxnSpPr>
        <p:spPr>
          <a:xfrm rot="10800000" flipH="1" flipV="1">
            <a:off x="1814944" y="1950765"/>
            <a:ext cx="377536" cy="1855079"/>
          </a:xfrm>
          <a:prstGeom prst="bentConnector3">
            <a:avLst>
              <a:gd name="adj1" fmla="val -60551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C5F057BD-2902-76C8-9E72-9439827A2869}"/>
              </a:ext>
            </a:extLst>
          </p:cNvPr>
          <p:cNvSpPr txBox="1"/>
          <p:nvPr/>
        </p:nvSpPr>
        <p:spPr>
          <a:xfrm>
            <a:off x="2200632" y="4941887"/>
            <a:ext cx="248881" cy="1966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noFill/>
          </a:ln>
        </p:spPr>
        <p:txBody>
          <a:bodyPr wrap="square" rtlCol="0">
            <a:noAutofit/>
          </a:bodyPr>
          <a:lstStyle>
            <a:defPPr>
              <a:defRPr lang="de-DE"/>
            </a:defPPr>
            <a:lvl1pPr>
              <a:tabLst>
                <a:tab pos="360363" algn="l"/>
              </a:tabLst>
              <a:defRPr sz="1400" b="1"/>
            </a:lvl1pPr>
          </a:lstStyle>
          <a:p>
            <a:r>
              <a:rPr lang="en-US" sz="1000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2F61B68-6C2C-D624-1658-654967C6CB05}"/>
              </a:ext>
            </a:extLst>
          </p:cNvPr>
          <p:cNvSpPr txBox="1"/>
          <p:nvPr/>
        </p:nvSpPr>
        <p:spPr>
          <a:xfrm>
            <a:off x="2200632" y="4930774"/>
            <a:ext cx="248881" cy="2295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noFill/>
          </a:ln>
        </p:spPr>
        <p:txBody>
          <a:bodyPr wrap="square" rtlCol="0">
            <a:noAutofit/>
          </a:bodyPr>
          <a:lstStyle>
            <a:defPPr>
              <a:defRPr lang="de-DE"/>
            </a:defPPr>
            <a:lvl1pPr>
              <a:tabLst>
                <a:tab pos="360363" algn="l"/>
              </a:tabLst>
              <a:defRPr sz="1400" b="1"/>
            </a:lvl1pPr>
          </a:lstStyle>
          <a:p>
            <a:pPr algn="ctr"/>
            <a:r>
              <a:rPr lang="en-US" sz="1000" dirty="0">
                <a:solidFill>
                  <a:srgbClr val="FF0000"/>
                </a:solidFill>
              </a:rPr>
              <a:t>X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978D07DA-F82B-A04C-8155-2E1D33688617}"/>
              </a:ext>
            </a:extLst>
          </p:cNvPr>
          <p:cNvCxnSpPr>
            <a:cxnSpLocks/>
            <a:stCxn id="7" idx="1"/>
            <a:endCxn id="19" idx="1"/>
          </p:cNvCxnSpPr>
          <p:nvPr/>
        </p:nvCxnSpPr>
        <p:spPr>
          <a:xfrm rot="10800000" flipH="1" flipV="1">
            <a:off x="2192480" y="3805844"/>
            <a:ext cx="8152" cy="1234345"/>
          </a:xfrm>
          <a:prstGeom prst="bentConnector3">
            <a:avLst>
              <a:gd name="adj1" fmla="val -280422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348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9" grpId="0" animBg="1"/>
      <p:bldP spid="28" grpId="0" animBg="1"/>
      <p:bldP spid="37" grpId="0"/>
      <p:bldP spid="7" grpId="0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20B9B-6DAD-3ED5-1631-BD70AC9DA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1ECE7E1-7F6B-944B-1C44-5B8D352D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SET  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 Ricken’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WHERE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&lt;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50000</a:t>
            </a:r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8AAAFD4-786F-ACB5-6862-87777F7869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el 9">
            <a:extLst>
              <a:ext uri="{FF2B5EF4-FFF2-40B4-BE49-F238E27FC236}">
                <a16:creationId xmlns:a16="http://schemas.microsoft.com/office/drawing/2014/main" id="{958C59DB-3926-9DEA-71F8-0022F7D7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 Escalation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15FCBFAD-7406-E4A7-EE40-E33816022536}"/>
              </a:ext>
            </a:extLst>
          </p:cNvPr>
          <p:cNvGraphicFramePr>
            <a:graphicFrameLocks noGrp="1"/>
          </p:cNvGraphicFramePr>
          <p:nvPr/>
        </p:nvGraphicFramePr>
        <p:xfrm>
          <a:off x="1814944" y="1564246"/>
          <a:ext cx="2817218" cy="77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23">
                  <a:extLst>
                    <a:ext uri="{9D8B030D-6E8A-4147-A177-3AD203B41FA5}">
                      <a16:colId xmlns:a16="http://schemas.microsoft.com/office/drawing/2014/main" val="2872294666"/>
                    </a:ext>
                  </a:extLst>
                </a:gridCol>
                <a:gridCol w="616267">
                  <a:extLst>
                    <a:ext uri="{9D8B030D-6E8A-4147-A177-3AD203B41FA5}">
                      <a16:colId xmlns:a16="http://schemas.microsoft.com/office/drawing/2014/main" val="2542042051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1071245696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3540005839"/>
                    </a:ext>
                  </a:extLst>
                </a:gridCol>
              </a:tblGrid>
              <a:tr h="23412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HEAP / (non)clustered Index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0101897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7130636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871036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116CAEAF-4B46-4BC5-48C9-96E9A23679E8}"/>
              </a:ext>
            </a:extLst>
          </p:cNvPr>
          <p:cNvSpPr txBox="1"/>
          <p:nvPr/>
        </p:nvSpPr>
        <p:spPr>
          <a:xfrm>
            <a:off x="2192480" y="3124111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Partition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31C7FB9-CA37-0D24-5488-3FF266369146}"/>
              </a:ext>
            </a:extLst>
          </p:cNvPr>
          <p:cNvSpPr txBox="1"/>
          <p:nvPr/>
        </p:nvSpPr>
        <p:spPr>
          <a:xfrm>
            <a:off x="2198828" y="3947074"/>
            <a:ext cx="1995634" cy="19887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b="1" dirty="0"/>
              <a:t>	</a:t>
            </a:r>
            <a:r>
              <a:rPr lang="en-US" sz="1000" dirty="0"/>
              <a:t>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11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0742B5-88C0-44EB-01BD-8D1604762C7E}"/>
              </a:ext>
            </a:extLst>
          </p:cNvPr>
          <p:cNvSpPr txBox="1"/>
          <p:nvPr/>
        </p:nvSpPr>
        <p:spPr>
          <a:xfrm>
            <a:off x="4006607" y="1893322"/>
            <a:ext cx="4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IX</a:t>
            </a:r>
          </a:p>
        </p:txBody>
      </p: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617C04A-8713-7838-8118-145C855E3727}"/>
              </a:ext>
            </a:extLst>
          </p:cNvPr>
          <p:cNvCxnSpPr>
            <a:cxnSpLocks/>
            <a:stCxn id="2" idx="1"/>
            <a:endCxn id="7" idx="1"/>
          </p:cNvCxnSpPr>
          <p:nvPr/>
        </p:nvCxnSpPr>
        <p:spPr>
          <a:xfrm rot="10800000" flipH="1" flipV="1">
            <a:off x="1814944" y="1950765"/>
            <a:ext cx="377536" cy="1855079"/>
          </a:xfrm>
          <a:prstGeom prst="bentConnector3">
            <a:avLst>
              <a:gd name="adj1" fmla="val -60551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344F7BA0-7AB0-1994-7D0C-CBA681C10D50}"/>
              </a:ext>
            </a:extLst>
          </p:cNvPr>
          <p:cNvCxnSpPr>
            <a:cxnSpLocks/>
            <a:stCxn id="7" idx="1"/>
            <a:endCxn id="11" idx="1"/>
          </p:cNvCxnSpPr>
          <p:nvPr/>
        </p:nvCxnSpPr>
        <p:spPr>
          <a:xfrm rot="10800000" flipH="1" flipV="1">
            <a:off x="2192480" y="3805845"/>
            <a:ext cx="6348" cy="1135592"/>
          </a:xfrm>
          <a:prstGeom prst="bentConnector3">
            <a:avLst>
              <a:gd name="adj1" fmla="val -9648834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D4DBFC6A-BDE1-0057-ECA1-E181DA3258CE}"/>
              </a:ext>
            </a:extLst>
          </p:cNvPr>
          <p:cNvSpPr txBox="1"/>
          <p:nvPr/>
        </p:nvSpPr>
        <p:spPr>
          <a:xfrm>
            <a:off x="2198828" y="3947074"/>
            <a:ext cx="1995633" cy="19887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>
              <a:tabLst>
                <a:tab pos="360363" algn="l"/>
              </a:tabLst>
            </a:pPr>
            <a:r>
              <a:rPr lang="en-US" sz="1000" dirty="0"/>
              <a:t>1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2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3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10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ADE8A2A-59E3-DD87-4908-624EF471922D}"/>
              </a:ext>
            </a:extLst>
          </p:cNvPr>
          <p:cNvSpPr txBox="1"/>
          <p:nvPr/>
        </p:nvSpPr>
        <p:spPr>
          <a:xfrm>
            <a:off x="2198829" y="3651956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360363" algn="l"/>
              </a:tabLst>
            </a:pPr>
            <a:r>
              <a:rPr lang="en-US" sz="1400" b="1" dirty="0"/>
              <a:t>	PAGE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2E5C574-5CA8-9494-E6D6-2096AA4BEA89}"/>
              </a:ext>
            </a:extLst>
          </p:cNvPr>
          <p:cNvSpPr txBox="1"/>
          <p:nvPr/>
        </p:nvSpPr>
        <p:spPr>
          <a:xfrm>
            <a:off x="2192480" y="3651956"/>
            <a:ext cx="463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IX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CD8E3D4-1598-90EC-5D80-71466E3423EF}"/>
              </a:ext>
            </a:extLst>
          </p:cNvPr>
          <p:cNvSpPr txBox="1"/>
          <p:nvPr/>
        </p:nvSpPr>
        <p:spPr>
          <a:xfrm>
            <a:off x="5428539" y="3912596"/>
            <a:ext cx="3296652" cy="138499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If to much granular locks occur, Microsoft SQL Server will lock the object itself but not the single rows!</a:t>
            </a:r>
          </a:p>
          <a:p>
            <a:endParaRPr lang="en-US" sz="1400" dirty="0"/>
          </a:p>
          <a:p>
            <a:r>
              <a:rPr lang="en-US" sz="1400" dirty="0"/>
              <a:t>The check for Lock Escalation happens every 1.250 rows!</a:t>
            </a: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D13E191E-CD04-5E16-75D9-38DAEF7366AC}"/>
              </a:ext>
            </a:extLst>
          </p:cNvPr>
          <p:cNvSpPr/>
          <p:nvPr/>
        </p:nvSpPr>
        <p:spPr>
          <a:xfrm>
            <a:off x="4305425" y="3597275"/>
            <a:ext cx="365682" cy="2355958"/>
          </a:xfrm>
          <a:prstGeom prst="rightBrace">
            <a:avLst>
              <a:gd name="adj1" fmla="val 8333"/>
              <a:gd name="adj2" fmla="val 49461"/>
            </a:avLst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575053EB-BE44-CAC6-0A2E-4C0C88AA7595}"/>
              </a:ext>
            </a:extLst>
          </p:cNvPr>
          <p:cNvCxnSpPr>
            <a:cxnSpLocks/>
            <a:stCxn id="14" idx="1"/>
            <a:endCxn id="13" idx="2"/>
          </p:cNvCxnSpPr>
          <p:nvPr/>
        </p:nvCxnSpPr>
        <p:spPr>
          <a:xfrm rot="10800000" flipH="1" flipV="1">
            <a:off x="4671107" y="4762555"/>
            <a:ext cx="2405758" cy="535036"/>
          </a:xfrm>
          <a:prstGeom prst="bentConnector4">
            <a:avLst>
              <a:gd name="adj1" fmla="val 11210"/>
              <a:gd name="adj2" fmla="val 209871"/>
            </a:avLst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7F87387E-33CD-984D-8A3D-CB7958E41D05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>
            <a:off x="4632163" y="1950766"/>
            <a:ext cx="796377" cy="265432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2D3FB582-7E21-2F0F-A157-4672A8A2EC1C}"/>
              </a:ext>
            </a:extLst>
          </p:cNvPr>
          <p:cNvSpPr txBox="1"/>
          <p:nvPr/>
        </p:nvSpPr>
        <p:spPr>
          <a:xfrm>
            <a:off x="4006607" y="1893322"/>
            <a:ext cx="4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181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9" grpId="0" animBg="1"/>
      <p:bldP spid="37" grpId="0"/>
      <p:bldP spid="37" grpId="1"/>
      <p:bldP spid="11" grpId="0" animBg="1"/>
      <p:bldP spid="11" grpId="1" animBg="1"/>
      <p:bldP spid="11" grpId="2" animBg="1"/>
      <p:bldP spid="28" grpId="0" animBg="1"/>
      <p:bldP spid="7" grpId="0"/>
      <p:bldP spid="7" grpId="1"/>
      <p:bldP spid="13" grpId="0" animBg="1"/>
      <p:bldP spid="14" grpId="0" animBg="1"/>
      <p:bldP spid="3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30165-3DF9-D1F3-6EF0-D93657CC7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AB19DD4-D07B-A63B-15A0-292B33294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Transaction Isolation Levels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12F026EE-A3F6-D476-40B1-59D0DFEBEB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2393891" algn="l"/>
              </a:tabLst>
            </a:pPr>
            <a:r>
              <a:rPr lang="en-US" dirty="0"/>
              <a:t>	controlling the management of </a:t>
            </a:r>
            <a:r>
              <a:rPr lang="en-US" b="1" dirty="0"/>
              <a:t>visibility</a:t>
            </a:r>
          </a:p>
        </p:txBody>
      </p:sp>
    </p:spTree>
    <p:extLst>
      <p:ext uri="{BB962C8B-B14F-4D97-AF65-F5344CB8AC3E}">
        <p14:creationId xmlns:p14="http://schemas.microsoft.com/office/powerpoint/2010/main" val="702285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5B1B6-4C6E-1A35-DF79-24AC12DB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22EFBC-5255-F851-78EC-B7CECB599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Transaction Isolation Levels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823F92-6166-8783-9C3E-1D310349C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665287"/>
            <a:ext cx="11522075" cy="194310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Transaction Isolation Levels in SQL Server control the visibility of data changes made by concurrent transactions</a:t>
            </a:r>
          </a:p>
          <a:p>
            <a:r>
              <a:rPr lang="en-US" dirty="0"/>
              <a:t>Manage, how transactions interact with each other.</a:t>
            </a:r>
          </a:p>
          <a:p>
            <a:r>
              <a:rPr lang="en-US" dirty="0"/>
              <a:t>There are five main isolation levels, each providing a different balance between consistency and concurrency: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E11BD4F7-5825-1BC1-1D3C-BF74F17874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758571"/>
              </p:ext>
            </p:extLst>
          </p:nvPr>
        </p:nvGraphicFramePr>
        <p:xfrm>
          <a:off x="334960" y="3608388"/>
          <a:ext cx="11522072" cy="2357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518">
                  <a:extLst>
                    <a:ext uri="{9D8B030D-6E8A-4147-A177-3AD203B41FA5}">
                      <a16:colId xmlns:a16="http://schemas.microsoft.com/office/drawing/2014/main" val="1846009585"/>
                    </a:ext>
                  </a:extLst>
                </a:gridCol>
                <a:gridCol w="2880518">
                  <a:extLst>
                    <a:ext uri="{9D8B030D-6E8A-4147-A177-3AD203B41FA5}">
                      <a16:colId xmlns:a16="http://schemas.microsoft.com/office/drawing/2014/main" val="53477002"/>
                    </a:ext>
                  </a:extLst>
                </a:gridCol>
                <a:gridCol w="2880518">
                  <a:extLst>
                    <a:ext uri="{9D8B030D-6E8A-4147-A177-3AD203B41FA5}">
                      <a16:colId xmlns:a16="http://schemas.microsoft.com/office/drawing/2014/main" val="922893009"/>
                    </a:ext>
                  </a:extLst>
                </a:gridCol>
                <a:gridCol w="2880518">
                  <a:extLst>
                    <a:ext uri="{9D8B030D-6E8A-4147-A177-3AD203B41FA5}">
                      <a16:colId xmlns:a16="http://schemas.microsoft.com/office/drawing/2014/main" val="2168616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Isolation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Dirty 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Phantom 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Non Repeatable Read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2869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Read Uncommitted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17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Read Committed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13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Repeatable 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de-DE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1138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Serializable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de-DE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de-DE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862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Snapshot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9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805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Transaction Isolation Levels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4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835D2-945B-329C-88B0-B9169799A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50C8E2E-0C3C-A818-F633-B5943D9CB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Deadlocks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0B3CC06-F7BF-A9F3-FB11-12744365D7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2393891" algn="l"/>
              </a:tabLst>
            </a:pPr>
            <a:r>
              <a:rPr lang="en-US" dirty="0"/>
              <a:t>	concurrency problems that SQL Server can no longer solve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62591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C4EDA-0E45-AE7F-692A-A89505997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Dining Philosophers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5BC0322-276E-07FC-A94C-D603BD8CA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7768116" cy="4644032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Dining Philosophers Problem</a:t>
            </a:r>
          </a:p>
          <a:p>
            <a:pPr lvl="1"/>
            <a:r>
              <a:rPr lang="en-US" noProof="0" dirty="0"/>
              <a:t>Five philosophers sit at a round table, alternating between thinking and eating. Each philosopher has a plate of spaghetti and a fork on either side of their plate.</a:t>
            </a:r>
          </a:p>
          <a:p>
            <a:pPr lvl="1"/>
            <a:r>
              <a:rPr lang="en-US" noProof="0" dirty="0"/>
              <a:t>To eat, a philosopher needs to use both forks. Since each philosopher shares a fork with their neighbor, there are only five forks available.</a:t>
            </a:r>
          </a:p>
          <a:p>
            <a:pPr lvl="1"/>
            <a:r>
              <a:rPr lang="en-US" noProof="0" dirty="0"/>
              <a:t>Philosophers must avoid </a:t>
            </a:r>
            <a:r>
              <a:rPr lang="en-US" b="1" noProof="0" dirty="0"/>
              <a:t>deadlock</a:t>
            </a:r>
            <a:r>
              <a:rPr lang="en-US" noProof="0" dirty="0"/>
              <a:t>, where each philosopher picks up one fork and waits indefinitely for the other fork to become available.</a:t>
            </a:r>
          </a:p>
          <a:p>
            <a:pPr lvl="1"/>
            <a:r>
              <a:rPr lang="en-US" noProof="0" dirty="0"/>
              <a:t>Strategies include allowing only a subset of philosophers to pick up forks at the same time, using a waiter to control access to forks, or implementing an asymmetric solution to break potential deadlocks.</a:t>
            </a:r>
          </a:p>
          <a:p>
            <a:r>
              <a:rPr lang="en-US" noProof="0" dirty="0"/>
              <a:t>This problem illustrates issues of resource allocation and synchronization in concurrent programming, highlighting challenges in ensuring deadlock-free and efficient resource sharing among processes.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89B4A94-E9B8-9603-8EAB-15B004564D7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36" y="1665288"/>
            <a:ext cx="3580804" cy="371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3276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EFC66-D9BA-DC87-87D2-DDCA25F5B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Deadlock Scenarios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8B00AE-F5D6-8AEB-8F89-A5DAE0103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Deadlock</a:t>
            </a:r>
          </a:p>
          <a:p>
            <a:r>
              <a:rPr lang="en-US" dirty="0"/>
              <a:t>Range Deadlock</a:t>
            </a:r>
          </a:p>
          <a:p>
            <a:r>
              <a:rPr lang="en-US" dirty="0"/>
              <a:t>Implicit Deadlock</a:t>
            </a:r>
          </a:p>
          <a:p>
            <a:r>
              <a:rPr lang="en-US" dirty="0"/>
              <a:t>NOLOCK Deadlock</a:t>
            </a:r>
          </a:p>
          <a:p>
            <a:r>
              <a:rPr lang="en-US" dirty="0"/>
              <a:t>Hidden Deadlock</a:t>
            </a:r>
          </a:p>
          <a:p>
            <a:r>
              <a:rPr lang="en-US" dirty="0"/>
              <a:t>One Query Deadlock</a:t>
            </a:r>
          </a:p>
        </p:txBody>
      </p:sp>
    </p:spTree>
    <p:extLst>
      <p:ext uri="{BB962C8B-B14F-4D97-AF65-F5344CB8AC3E}">
        <p14:creationId xmlns:p14="http://schemas.microsoft.com/office/powerpoint/2010/main" val="36636337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4D707-CA4B-FE67-AA26-195EA033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 Deadlock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ED975E3-6DA1-1855-FFED-F4F969AD19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3114135" cy="970706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update_customers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'Uwe’</a:t>
            </a:r>
            <a:b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404D63F-3FC5-D990-3B26-B442A4EB3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83108" y="2635994"/>
            <a:ext cx="2873532" cy="970706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n_name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'UK’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n_nationkey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latin typeface="Lucida Console" panose="020B0609040504020204" pitchFamily="49" charset="0"/>
            </a:endParaRP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183981B-AE07-05EF-61C4-CB5F3AB6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471130"/>
              </p:ext>
            </p:extLst>
          </p:nvPr>
        </p:nvGraphicFramePr>
        <p:xfrm>
          <a:off x="4441765" y="1716865"/>
          <a:ext cx="330846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248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8998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6926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dbo.customers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01C761C3-73E2-33DF-29B2-DBAF1969F4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123434"/>
              </p:ext>
            </p:extLst>
          </p:nvPr>
        </p:nvGraphicFramePr>
        <p:xfrm>
          <a:off x="4441765" y="3958721"/>
          <a:ext cx="330846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681">
                  <a:extLst>
                    <a:ext uri="{9D8B030D-6E8A-4147-A177-3AD203B41FA5}">
                      <a16:colId xmlns:a16="http://schemas.microsoft.com/office/drawing/2014/main" val="454890317"/>
                    </a:ext>
                  </a:extLst>
                </a:gridCol>
                <a:gridCol w="1152841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89219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55749">
                  <a:extLst>
                    <a:ext uri="{9D8B030D-6E8A-4147-A177-3AD203B41FA5}">
                      <a16:colId xmlns:a16="http://schemas.microsoft.com/office/drawing/2014/main" val="2064595436"/>
                    </a:ext>
                  </a:extLst>
                </a:gridCol>
              </a:tblGrid>
              <a:tr h="213662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dbo.nations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n_nationkey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n_name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2E88EACA-2775-6F2B-4FF2-E99F8D2C7D5F}"/>
              </a:ext>
            </a:extLst>
          </p:cNvPr>
          <p:cNvSpPr txBox="1"/>
          <p:nvPr/>
        </p:nvSpPr>
        <p:spPr>
          <a:xfrm>
            <a:off x="7264053" y="4755326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B6478BE-4F19-3310-4DFC-38DC4727BEED}"/>
              </a:ext>
            </a:extLst>
          </p:cNvPr>
          <p:cNvSpPr txBox="1"/>
          <p:nvPr/>
        </p:nvSpPr>
        <p:spPr>
          <a:xfrm>
            <a:off x="4568325" y="2804431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EA63124F-D79B-92FD-DC17-1B7ED1FA494F}"/>
              </a:ext>
            </a:extLst>
          </p:cNvPr>
          <p:cNvSpPr txBox="1">
            <a:spLocks/>
          </p:cNvSpPr>
          <p:nvPr/>
        </p:nvSpPr>
        <p:spPr>
          <a:xfrm>
            <a:off x="335360" y="3608388"/>
            <a:ext cx="3114135" cy="516882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>
            <a:lvl1pPr marL="228578" indent="-228578" algn="l" defTabSz="9143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3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886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40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195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9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0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8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1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dbo.nations</a:t>
            </a:r>
            <a:b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n_nationkey = 2;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FAC3D66-8E1E-7F28-CE45-B864990C5C38}"/>
              </a:ext>
            </a:extLst>
          </p:cNvPr>
          <p:cNvSpPr txBox="1"/>
          <p:nvPr/>
        </p:nvSpPr>
        <p:spPr>
          <a:xfrm>
            <a:off x="4562922" y="4755326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433D4D87-C2E9-EE95-C74C-275E499DD26D}"/>
              </a:ext>
            </a:extLst>
          </p:cNvPr>
          <p:cNvSpPr txBox="1">
            <a:spLocks/>
          </p:cNvSpPr>
          <p:nvPr/>
        </p:nvSpPr>
        <p:spPr>
          <a:xfrm>
            <a:off x="8983104" y="4134619"/>
            <a:ext cx="2873532" cy="516882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>
            <a:lvl1pPr marL="228578" indent="-228578" algn="l" defTabSz="9143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3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886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40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195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9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0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8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1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dbo.customers</a:t>
            </a:r>
            <a:b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c_custkey = 3;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FD61FE9-F27E-9E20-34DB-D17BD05B6C78}"/>
              </a:ext>
            </a:extLst>
          </p:cNvPr>
          <p:cNvSpPr txBox="1"/>
          <p:nvPr/>
        </p:nvSpPr>
        <p:spPr>
          <a:xfrm>
            <a:off x="7264053" y="2804431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trike="sngStrike" dirty="0">
                <a:solidFill>
                  <a:srgbClr val="00B050"/>
                </a:solidFill>
              </a:rPr>
              <a:t>S</a:t>
            </a:r>
            <a:endParaRPr lang="en-US" sz="1200" strike="sngStrike" dirty="0">
              <a:solidFill>
                <a:srgbClr val="00B050"/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387F504-529A-81EE-925D-6A3C3A8C330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449495" y="2150641"/>
            <a:ext cx="1118830" cy="79229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EB036B1-6741-E944-3F4F-6272F4CC6500}"/>
              </a:ext>
            </a:extLst>
          </p:cNvPr>
          <p:cNvCxnSpPr>
            <a:stCxn id="5" idx="1"/>
            <a:endCxn id="10" idx="3"/>
          </p:cNvCxnSpPr>
          <p:nvPr/>
        </p:nvCxnSpPr>
        <p:spPr>
          <a:xfrm flipH="1">
            <a:off x="7549709" y="3121347"/>
            <a:ext cx="1433399" cy="177247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44F8F2B-0730-4A3E-7ED9-2D41D27225DA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449495" y="3866829"/>
            <a:ext cx="1113427" cy="10269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E003972-D6B6-AD09-8442-BCD002763668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 flipV="1">
            <a:off x="7535281" y="2942931"/>
            <a:ext cx="1447823" cy="145012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88FAEE0-3210-959E-B884-CBFAC4B6C3DF}"/>
              </a:ext>
            </a:extLst>
          </p:cNvPr>
          <p:cNvSpPr txBox="1"/>
          <p:nvPr/>
        </p:nvSpPr>
        <p:spPr>
          <a:xfrm>
            <a:off x="3264076" y="1734915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DD37079-DA53-263A-A1F1-BCC9BB49ADCB}"/>
              </a:ext>
            </a:extLst>
          </p:cNvPr>
          <p:cNvSpPr txBox="1"/>
          <p:nvPr/>
        </p:nvSpPr>
        <p:spPr>
          <a:xfrm>
            <a:off x="3264076" y="3637105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11B0882-E99E-65AC-ED26-B7D86DBF8C53}"/>
              </a:ext>
            </a:extLst>
          </p:cNvPr>
          <p:cNvSpPr txBox="1"/>
          <p:nvPr/>
        </p:nvSpPr>
        <p:spPr>
          <a:xfrm>
            <a:off x="8066348" y="2650542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19EF7EF-B962-E09E-3299-76E30FFA0C51}"/>
              </a:ext>
            </a:extLst>
          </p:cNvPr>
          <p:cNvSpPr txBox="1"/>
          <p:nvPr/>
        </p:nvSpPr>
        <p:spPr>
          <a:xfrm>
            <a:off x="8066348" y="4214503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</p:spTree>
    <p:extLst>
      <p:ext uri="{BB962C8B-B14F-4D97-AF65-F5344CB8AC3E}">
        <p14:creationId xmlns:p14="http://schemas.microsoft.com/office/powerpoint/2010/main" val="163560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0" grpId="0"/>
      <p:bldP spid="11" grpId="0"/>
      <p:bldP spid="13" grpId="0"/>
      <p:bldP spid="15" grpId="0"/>
      <p:bldP spid="21" grpId="0"/>
      <p:bldP spid="22" grpId="0"/>
      <p:bldP spid="23" grpId="0"/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CEFDC6C-CEEB-A3D4-F712-F922A566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 Deadlock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3F61D8D-FCAA-9A60-9D81-B64DA66A1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1" y="2064622"/>
            <a:ext cx="11456758" cy="272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08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874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FCD9B-6957-0B9D-2964-07A0E3DA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F970DA1-3295-3AE2-DB13-A893A4DE4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790233"/>
              </p:ext>
            </p:extLst>
          </p:nvPr>
        </p:nvGraphicFramePr>
        <p:xfrm>
          <a:off x="421779" y="2636838"/>
          <a:ext cx="356780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056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35404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1160342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3">
                  <a:txBody>
                    <a:bodyPr/>
                    <a:lstStyle/>
                    <a:p>
                      <a:r>
                        <a:rPr lang="de-DE" sz="1200" dirty="0"/>
                        <a:t>dbo.customers</a:t>
                      </a:r>
                      <a:endParaRPr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c_nationkey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C86BAEF0-2ED4-29FE-7240-AA11C5CB72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458889"/>
              </p:ext>
            </p:extLst>
          </p:nvPr>
        </p:nvGraphicFramePr>
        <p:xfrm>
          <a:off x="8451528" y="2636838"/>
          <a:ext cx="339436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746">
                  <a:extLst>
                    <a:ext uri="{9D8B030D-6E8A-4147-A177-3AD203B41FA5}">
                      <a16:colId xmlns:a16="http://schemas.microsoft.com/office/drawing/2014/main" val="454890317"/>
                    </a:ext>
                  </a:extLst>
                </a:gridCol>
                <a:gridCol w="10903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093888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5374">
                  <a:extLst>
                    <a:ext uri="{9D8B030D-6E8A-4147-A177-3AD203B41FA5}">
                      <a16:colId xmlns:a16="http://schemas.microsoft.com/office/drawing/2014/main" val="2064595436"/>
                    </a:ext>
                  </a:extLst>
                </a:gridCol>
              </a:tblGrid>
              <a:tr h="213662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dbo.nations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n_nationkey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n_name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AAC5B6EA-BCDF-B562-CAC6-B34C3C4A5C2E}"/>
              </a:ext>
            </a:extLst>
          </p:cNvPr>
          <p:cNvSpPr/>
          <p:nvPr/>
        </p:nvSpPr>
        <p:spPr>
          <a:xfrm>
            <a:off x="9017000" y="2904065"/>
            <a:ext cx="1100667" cy="270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DBBA12B-CE7B-572E-9046-89C515613F5C}"/>
              </a:ext>
            </a:extLst>
          </p:cNvPr>
          <p:cNvSpPr/>
          <p:nvPr/>
        </p:nvSpPr>
        <p:spPr>
          <a:xfrm>
            <a:off x="2842860" y="2904065"/>
            <a:ext cx="1146721" cy="270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Verbinder: gekrümmt 18">
            <a:extLst>
              <a:ext uri="{FF2B5EF4-FFF2-40B4-BE49-F238E27FC236}">
                <a16:creationId xmlns:a16="http://schemas.microsoft.com/office/drawing/2014/main" id="{5B9B4956-B375-4F68-13F3-D0F3BF995908}"/>
              </a:ext>
            </a:extLst>
          </p:cNvPr>
          <p:cNvCxnSpPr>
            <a:stCxn id="5" idx="0"/>
            <a:endCxn id="6" idx="0"/>
          </p:cNvCxnSpPr>
          <p:nvPr/>
        </p:nvCxnSpPr>
        <p:spPr>
          <a:xfrm rot="16200000" flipV="1">
            <a:off x="6491778" y="-171492"/>
            <a:ext cx="12700" cy="6151113"/>
          </a:xfrm>
          <a:prstGeom prst="curvedConnector3">
            <a:avLst>
              <a:gd name="adj1" fmla="val 10241378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2F27661B-6A98-8B96-CBCB-528FB6BBCEA6}"/>
              </a:ext>
            </a:extLst>
          </p:cNvPr>
          <p:cNvSpPr txBox="1"/>
          <p:nvPr/>
        </p:nvSpPr>
        <p:spPr>
          <a:xfrm>
            <a:off x="9418834" y="218758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357FA1-D82A-E57C-69C4-D3C34C023963}"/>
              </a:ext>
            </a:extLst>
          </p:cNvPr>
          <p:cNvSpPr txBox="1"/>
          <p:nvPr/>
        </p:nvSpPr>
        <p:spPr>
          <a:xfrm>
            <a:off x="3330389" y="218758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05723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BCE76-0E49-F636-C707-42E62CB0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D7D68-B2C5-8402-EBA0-135753D4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F0F8F0-F71E-C295-E167-59B95AA8E5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7"/>
            <a:ext cx="3114135" cy="12930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update_customers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'Uwe’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b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c_nationkey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99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179243C-9CA8-AD7F-92DE-F931A7EC20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83108" y="2635994"/>
            <a:ext cx="2873532" cy="970706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n_nationkey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99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latin typeface="Lucida Console" panose="020B0609040504020204" pitchFamily="49" charset="0"/>
            </a:endParaRP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A08A5F37-D92D-D4B8-003E-D972B3048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486416"/>
              </p:ext>
            </p:extLst>
          </p:nvPr>
        </p:nvGraphicFramePr>
        <p:xfrm>
          <a:off x="4441765" y="1716865"/>
          <a:ext cx="330846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248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8998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6926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dbo.customers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E2B76C67-458E-38F1-58C4-2B801878C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120883"/>
              </p:ext>
            </p:extLst>
          </p:nvPr>
        </p:nvGraphicFramePr>
        <p:xfrm>
          <a:off x="4441765" y="3958721"/>
          <a:ext cx="330846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681">
                  <a:extLst>
                    <a:ext uri="{9D8B030D-6E8A-4147-A177-3AD203B41FA5}">
                      <a16:colId xmlns:a16="http://schemas.microsoft.com/office/drawing/2014/main" val="454890317"/>
                    </a:ext>
                  </a:extLst>
                </a:gridCol>
                <a:gridCol w="1152841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89219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55749">
                  <a:extLst>
                    <a:ext uri="{9D8B030D-6E8A-4147-A177-3AD203B41FA5}">
                      <a16:colId xmlns:a16="http://schemas.microsoft.com/office/drawing/2014/main" val="2064595436"/>
                    </a:ext>
                  </a:extLst>
                </a:gridCol>
              </a:tblGrid>
              <a:tr h="213662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dbo.nations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n_nationkey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n_name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180634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892041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C06FCB68-F17C-D0D9-A71F-D2F51A0D7337}"/>
              </a:ext>
            </a:extLst>
          </p:cNvPr>
          <p:cNvSpPr txBox="1"/>
          <p:nvPr/>
        </p:nvSpPr>
        <p:spPr>
          <a:xfrm>
            <a:off x="7264053" y="5580388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FB4F726-BF1B-9A58-B1A4-E20BE43789A8}"/>
              </a:ext>
            </a:extLst>
          </p:cNvPr>
          <p:cNvSpPr txBox="1"/>
          <p:nvPr/>
        </p:nvSpPr>
        <p:spPr>
          <a:xfrm>
            <a:off x="4568325" y="2804431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2EC88748-7167-1B68-D527-4E4C592E1C59}"/>
              </a:ext>
            </a:extLst>
          </p:cNvPr>
          <p:cNvSpPr txBox="1">
            <a:spLocks/>
          </p:cNvSpPr>
          <p:nvPr/>
        </p:nvSpPr>
        <p:spPr>
          <a:xfrm>
            <a:off x="335360" y="3608388"/>
            <a:ext cx="3114135" cy="516882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>
            <a:lvl1pPr marL="228578" indent="-228578" algn="l" defTabSz="9143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3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886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40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195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9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0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8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1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dbo.nations</a:t>
            </a:r>
            <a:b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n_nationkey = 99;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A23B6E0-3262-F4C4-B91C-9CF9C7F67529}"/>
              </a:ext>
            </a:extLst>
          </p:cNvPr>
          <p:cNvSpPr txBox="1"/>
          <p:nvPr/>
        </p:nvSpPr>
        <p:spPr>
          <a:xfrm>
            <a:off x="4562922" y="5580387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31A906E-3956-C201-8790-411AE0116488}"/>
              </a:ext>
            </a:extLst>
          </p:cNvPr>
          <p:cNvSpPr txBox="1"/>
          <p:nvPr/>
        </p:nvSpPr>
        <p:spPr>
          <a:xfrm>
            <a:off x="7264053" y="2804431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trike="sngStrike" dirty="0">
                <a:solidFill>
                  <a:srgbClr val="00B050"/>
                </a:solidFill>
              </a:rPr>
              <a:t>S</a:t>
            </a:r>
            <a:endParaRPr lang="en-US" sz="1200" strike="sngStrike" dirty="0">
              <a:solidFill>
                <a:srgbClr val="00B050"/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0D0AD7D-56D5-7953-C7F6-DA0343DD795E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449495" y="2311803"/>
            <a:ext cx="1118830" cy="63112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4E0249-4B85-92D0-5B9E-8984E77F5219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7549709" y="3946409"/>
            <a:ext cx="1433399" cy="177247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D8F6E46A-16B0-C02B-0233-8F41A40114DD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449495" y="2311803"/>
            <a:ext cx="1113427" cy="340708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7A76C16-8043-9784-4131-842AE592A4D2}"/>
              </a:ext>
            </a:extLst>
          </p:cNvPr>
          <p:cNvCxnSpPr>
            <a:cxnSpLocks/>
            <a:stCxn id="10" idx="3"/>
            <a:endCxn id="15" idx="3"/>
          </p:cNvCxnSpPr>
          <p:nvPr/>
        </p:nvCxnSpPr>
        <p:spPr>
          <a:xfrm flipH="1" flipV="1">
            <a:off x="7535281" y="2942931"/>
            <a:ext cx="14428" cy="277595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DBC62E9-A30C-66AD-10FC-E0616FD663D5}"/>
              </a:ext>
            </a:extLst>
          </p:cNvPr>
          <p:cNvSpPr txBox="1"/>
          <p:nvPr/>
        </p:nvSpPr>
        <p:spPr>
          <a:xfrm>
            <a:off x="3472663" y="2804431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91822B5-E473-C688-9AF7-241593BC2A82}"/>
              </a:ext>
            </a:extLst>
          </p:cNvPr>
          <p:cNvSpPr txBox="1"/>
          <p:nvPr/>
        </p:nvSpPr>
        <p:spPr>
          <a:xfrm>
            <a:off x="3472663" y="5549610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DD3A1D9-74BF-67E7-B81F-D2CE3A1239A8}"/>
              </a:ext>
            </a:extLst>
          </p:cNvPr>
          <p:cNvSpPr txBox="1"/>
          <p:nvPr/>
        </p:nvSpPr>
        <p:spPr>
          <a:xfrm>
            <a:off x="7677057" y="2804431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E18BDB59-BCB7-0CA8-0431-83117F1B6717}"/>
              </a:ext>
            </a:extLst>
          </p:cNvPr>
          <p:cNvSpPr txBox="1"/>
          <p:nvPr/>
        </p:nvSpPr>
        <p:spPr>
          <a:xfrm>
            <a:off x="7789376" y="5571184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47E94158-B3FD-1CCB-89A5-52E7568BFBA2}"/>
              </a:ext>
            </a:extLst>
          </p:cNvPr>
          <p:cNvCxnSpPr>
            <a:cxnSpLocks/>
            <a:stCxn id="12" idx="3"/>
            <a:endCxn id="37" idx="1"/>
          </p:cNvCxnSpPr>
          <p:nvPr/>
        </p:nvCxnSpPr>
        <p:spPr>
          <a:xfrm>
            <a:off x="3449495" y="3866829"/>
            <a:ext cx="1113427" cy="185205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9BDB97B6-C70E-02CF-CF78-A54CFB700C88}"/>
              </a:ext>
            </a:extLst>
          </p:cNvPr>
          <p:cNvSpPr txBox="1"/>
          <p:nvPr/>
        </p:nvSpPr>
        <p:spPr>
          <a:xfrm>
            <a:off x="3472663" y="5165997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75DAA94-646A-91A7-02F7-D8839ACE2B3D}"/>
              </a:ext>
            </a:extLst>
          </p:cNvPr>
          <p:cNvSpPr txBox="1"/>
          <p:nvPr/>
        </p:nvSpPr>
        <p:spPr>
          <a:xfrm>
            <a:off x="4562922" y="5580387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70185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build="p"/>
      <p:bldP spid="10" grpId="0"/>
      <p:bldP spid="11" grpId="0"/>
      <p:bldP spid="12" grpId="0"/>
      <p:bldP spid="13" grpId="0"/>
      <p:bldP spid="13" grpId="1"/>
      <p:bldP spid="15" grpId="0"/>
      <p:bldP spid="21" grpId="0"/>
      <p:bldP spid="23" grpId="0"/>
      <p:bldP spid="23" grpId="1"/>
      <p:bldP spid="24" grpId="0"/>
      <p:bldP spid="32" grpId="0"/>
      <p:bldP spid="36" grpId="0"/>
      <p:bldP spid="3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2B7E-074D-5890-4ACC-47D5EFAD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A28113E-C100-5AED-7DB8-802C728A3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84A8FC8-D894-83A8-92DC-E2B4C6E9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55" y="1676155"/>
            <a:ext cx="1157449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612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43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8644CE-860C-7C6E-6D1F-3D107B2C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 Key Deadlock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F89EEBCF-74B1-A2AE-9538-7AE840B45D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691335"/>
              </p:ext>
            </p:extLst>
          </p:nvPr>
        </p:nvGraphicFramePr>
        <p:xfrm>
          <a:off x="3935073" y="1716865"/>
          <a:ext cx="57532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225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906147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108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1210836">
                  <a:extLst>
                    <a:ext uri="{9D8B030D-6E8A-4147-A177-3AD203B41FA5}">
                      <a16:colId xmlns:a16="http://schemas.microsoft.com/office/drawing/2014/main" val="1058491374"/>
                    </a:ext>
                  </a:extLst>
                </a:gridCol>
                <a:gridCol w="1210836">
                  <a:extLst>
                    <a:ext uri="{9D8B030D-6E8A-4147-A177-3AD203B41FA5}">
                      <a16:colId xmlns:a16="http://schemas.microsoft.com/office/drawing/2014/main" val="428986373"/>
                    </a:ext>
                  </a:extLst>
                </a:gridCol>
                <a:gridCol w="641377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dbo.process_status (HEAP)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scancode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ship_id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is_state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6870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6987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000000002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4CB2A8F3-E55E-7AEF-453C-83927AA140C3}"/>
              </a:ext>
            </a:extLst>
          </p:cNvPr>
          <p:cNvSpPr txBox="1"/>
          <p:nvPr/>
        </p:nvSpPr>
        <p:spPr>
          <a:xfrm>
            <a:off x="3935075" y="3720661"/>
            <a:ext cx="57532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Create a nonclustered index on the predicate attributes */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NONCLUSTERED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nix_process_status_scancode_ship_id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dbo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process_status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tabLst>
                <a:tab pos="360363" algn="l"/>
              </a:tabLst>
            </a:pP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scancode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tabLst>
                <a:tab pos="360363" algn="l"/>
              </a:tabLst>
            </a:pP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ship_id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E2942A8-B76D-65E0-A773-03F6DFF55FD8}"/>
              </a:ext>
            </a:extLst>
          </p:cNvPr>
          <p:cNvSpPr txBox="1"/>
          <p:nvPr/>
        </p:nvSpPr>
        <p:spPr>
          <a:xfrm>
            <a:off x="334966" y="1999068"/>
            <a:ext cx="29674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dbo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process_status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istate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scancode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@scancode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ship_id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@ship_id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C492C26-FDC5-B6F7-F1F9-8C0DF8E3D6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726754"/>
              </p:ext>
            </p:extLst>
          </p:nvPr>
        </p:nvGraphicFramePr>
        <p:xfrm>
          <a:off x="3935072" y="5290321"/>
          <a:ext cx="5753254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387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143719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1437196">
                  <a:extLst>
                    <a:ext uri="{9D8B030D-6E8A-4147-A177-3AD203B41FA5}">
                      <a16:colId xmlns:a16="http://schemas.microsoft.com/office/drawing/2014/main" val="1058491374"/>
                    </a:ext>
                  </a:extLst>
                </a:gridCol>
                <a:gridCol w="1437196">
                  <a:extLst>
                    <a:ext uri="{9D8B030D-6E8A-4147-A177-3AD203B41FA5}">
                      <a16:colId xmlns:a16="http://schemas.microsoft.com/office/drawing/2014/main" val="428986373"/>
                    </a:ext>
                  </a:extLst>
                </a:gridCol>
                <a:gridCol w="761279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5">
                  <a:txBody>
                    <a:bodyPr/>
                    <a:lstStyle/>
                    <a:p>
                      <a:r>
                        <a:rPr lang="en-US" sz="1200" dirty="0"/>
                        <a:t>nix_process_status_scanncode_ship_id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scancode (key)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ship_id (key)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RID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</a:tbl>
          </a:graphicData>
        </a:graphic>
      </p:graphicFrame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EAF7EC5-79CA-D0D8-530B-DD117565E7D9}"/>
              </a:ext>
            </a:extLst>
          </p:cNvPr>
          <p:cNvCxnSpPr>
            <a:cxnSpLocks/>
            <a:stCxn id="6" idx="2"/>
            <a:endCxn id="7" idx="1"/>
          </p:cNvCxnSpPr>
          <p:nvPr/>
        </p:nvCxnSpPr>
        <p:spPr>
          <a:xfrm>
            <a:off x="1818706" y="2830065"/>
            <a:ext cx="2116366" cy="287173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06FD59B-B723-5D61-648C-B701B06E0936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302445" y="2414567"/>
            <a:ext cx="632627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280E5E9B-53D5-03A1-37AC-61999CA7E0F3}"/>
              </a:ext>
            </a:extLst>
          </p:cNvPr>
          <p:cNvSpPr txBox="1"/>
          <p:nvPr/>
        </p:nvSpPr>
        <p:spPr>
          <a:xfrm>
            <a:off x="4046400" y="5820362"/>
            <a:ext cx="345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F5D7E69-4FE5-13F9-C62F-547A60DD7CE1}"/>
              </a:ext>
            </a:extLst>
          </p:cNvPr>
          <p:cNvSpPr txBox="1"/>
          <p:nvPr/>
        </p:nvSpPr>
        <p:spPr>
          <a:xfrm>
            <a:off x="4046400" y="2276066"/>
            <a:ext cx="345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93920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 Key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19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Wand, drinnen, Person, essend enthält.&#10;&#10;Automatisch generierte Beschreibung">
            <a:extLst>
              <a:ext uri="{FF2B5EF4-FFF2-40B4-BE49-F238E27FC236}">
                <a16:creationId xmlns:a16="http://schemas.microsoft.com/office/drawing/2014/main" id="{B83979AF-EC4E-A3B7-5E7A-4742A3BCD4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1196975"/>
            <a:ext cx="3409950" cy="3429000"/>
          </a:xfrm>
          <a:prstGeom prst="rect">
            <a:avLst/>
          </a:prstGeom>
          <a:ln w="57150">
            <a:solidFill>
              <a:schemeClr val="tx1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</p:pic>
      <p:sp>
        <p:nvSpPr>
          <p:cNvPr id="2" name="Untertitel 2">
            <a:extLst>
              <a:ext uri="{FF2B5EF4-FFF2-40B4-BE49-F238E27FC236}">
                <a16:creationId xmlns:a16="http://schemas.microsoft.com/office/drawing/2014/main" id="{C397CE24-1561-012C-8144-0FD46600A04F}"/>
              </a:ext>
            </a:extLst>
          </p:cNvPr>
          <p:cNvSpPr txBox="1">
            <a:spLocks/>
          </p:cNvSpPr>
          <p:nvPr/>
        </p:nvSpPr>
        <p:spPr>
          <a:xfrm>
            <a:off x="344245" y="4870174"/>
            <a:ext cx="11510683" cy="743821"/>
          </a:xfrm>
          <a:prstGeom prst="rect">
            <a:avLst/>
          </a:prstGeom>
        </p:spPr>
        <p:txBody>
          <a:bodyPr/>
          <a:lstStyle>
            <a:lvl1pPr marL="228584" indent="-228584" algn="l" defTabSz="91433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5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8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7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12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8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1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>
                <a:hlinkClick r:id="rId3"/>
              </a:rPr>
              <a:t>https://github.com/db-berater/solving-deadlock-scenarios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6906354"/>
      </p:ext>
    </p:extLst>
  </p:cSld>
  <p:clrMapOvr>
    <a:masterClrMapping/>
  </p:clrMapOvr>
</p:sld>
</file>

<file path=ppt/theme/theme1.xml><?xml version="1.0" encoding="utf-8"?>
<a:theme xmlns:a="http://schemas.openxmlformats.org/drawingml/2006/main" name="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2.xml><?xml version="1.0" encoding="utf-8"?>
<a:theme xmlns:a="http://schemas.openxmlformats.org/drawingml/2006/main" name="1_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 SQL Server Statistics - EN</Template>
  <TotalTime>0</TotalTime>
  <Words>1661</Words>
  <Application>Microsoft Office PowerPoint</Application>
  <PresentationFormat>Breitbild</PresentationFormat>
  <Paragraphs>414</Paragraphs>
  <Slides>27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27</vt:i4>
      </vt:variant>
    </vt:vector>
  </HeadingPairs>
  <TitlesOfParts>
    <vt:vector size="35" baseType="lpstr">
      <vt:lpstr>Aptos</vt:lpstr>
      <vt:lpstr>Arial</vt:lpstr>
      <vt:lpstr>Calibri</vt:lpstr>
      <vt:lpstr>Cascadia Mono</vt:lpstr>
      <vt:lpstr>Lucida Console</vt:lpstr>
      <vt:lpstr>Segoe UI</vt:lpstr>
      <vt:lpstr>db-berater</vt:lpstr>
      <vt:lpstr>1_db-berater</vt:lpstr>
      <vt:lpstr>Deadlock Scenarios</vt:lpstr>
      <vt:lpstr>Links for this Session/Workshop</vt:lpstr>
      <vt:lpstr>Uwe Ricken db Berater GmbH</vt:lpstr>
      <vt:lpstr>Challenge SQL Server real world scenarios</vt:lpstr>
      <vt:lpstr>Agenda</vt:lpstr>
      <vt:lpstr>Lock Types</vt:lpstr>
      <vt:lpstr>Lock Types</vt:lpstr>
      <vt:lpstr>Lock Status</vt:lpstr>
      <vt:lpstr>Locking Hierarchy</vt:lpstr>
      <vt:lpstr>Locking Hierarchy</vt:lpstr>
      <vt:lpstr>Lock Escalation</vt:lpstr>
      <vt:lpstr>Transaction Isolation Levels</vt:lpstr>
      <vt:lpstr>Transaction Isolation Levels</vt:lpstr>
      <vt:lpstr>Transaction Isolation Levels</vt:lpstr>
      <vt:lpstr>Deadlocks</vt:lpstr>
      <vt:lpstr>The Dining Philosophers</vt:lpstr>
      <vt:lpstr>Common Deadlock Scenarios</vt:lpstr>
      <vt:lpstr>Classic Deadlock</vt:lpstr>
      <vt:lpstr>Classic Deadlock</vt:lpstr>
      <vt:lpstr>Classic Deadlock</vt:lpstr>
      <vt:lpstr>Foreign Key Deadlock</vt:lpstr>
      <vt:lpstr>Foreign Key Deadlock</vt:lpstr>
      <vt:lpstr>Foreign Key Deadlock</vt:lpstr>
      <vt:lpstr>Foreign Key Deadlock</vt:lpstr>
      <vt:lpstr>Index Key Deadlock</vt:lpstr>
      <vt:lpstr>Index Key Deadlock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4</cp:revision>
  <dcterms:created xsi:type="dcterms:W3CDTF">2025-01-15T07:42:17Z</dcterms:created>
  <dcterms:modified xsi:type="dcterms:W3CDTF">2025-11-11T16:42:48Z</dcterms:modified>
</cp:coreProperties>
</file>
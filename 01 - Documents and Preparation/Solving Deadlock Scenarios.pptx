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39"/>
  </p:notesMasterIdLst>
  <p:sldIdLst>
    <p:sldId id="256" r:id="rId2"/>
    <p:sldId id="315" r:id="rId3"/>
    <p:sldId id="381" r:id="rId4"/>
    <p:sldId id="422" r:id="rId5"/>
    <p:sldId id="438" r:id="rId6"/>
    <p:sldId id="327" r:id="rId7"/>
    <p:sldId id="391" r:id="rId8"/>
    <p:sldId id="398" r:id="rId9"/>
    <p:sldId id="384" r:id="rId10"/>
    <p:sldId id="392" r:id="rId11"/>
    <p:sldId id="396" r:id="rId12"/>
    <p:sldId id="397" r:id="rId13"/>
    <p:sldId id="390" r:id="rId14"/>
    <p:sldId id="383" r:id="rId15"/>
    <p:sldId id="427" r:id="rId16"/>
    <p:sldId id="428" r:id="rId17"/>
    <p:sldId id="404" r:id="rId18"/>
    <p:sldId id="399" r:id="rId19"/>
    <p:sldId id="382" r:id="rId20"/>
    <p:sldId id="436" r:id="rId21"/>
    <p:sldId id="400" r:id="rId22"/>
    <p:sldId id="432" r:id="rId23"/>
    <p:sldId id="401" r:id="rId24"/>
    <p:sldId id="403" r:id="rId25"/>
    <p:sldId id="405" r:id="rId26"/>
    <p:sldId id="431" r:id="rId27"/>
    <p:sldId id="433" r:id="rId28"/>
    <p:sldId id="408" r:id="rId29"/>
    <p:sldId id="406" r:id="rId30"/>
    <p:sldId id="407" r:id="rId31"/>
    <p:sldId id="423" r:id="rId32"/>
    <p:sldId id="434" r:id="rId33"/>
    <p:sldId id="435" r:id="rId34"/>
    <p:sldId id="425" r:id="rId35"/>
    <p:sldId id="424" r:id="rId36"/>
    <p:sldId id="429" r:id="rId37"/>
    <p:sldId id="426" r:id="rId3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6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55" autoAdjust="0"/>
  </p:normalViewPr>
  <p:slideViewPr>
    <p:cSldViewPr snapToGrid="0" showGuides="1">
      <p:cViewPr varScale="1">
        <p:scale>
          <a:sx n="82" d="100"/>
          <a:sy n="82" d="100"/>
        </p:scale>
        <p:origin x="384" y="55"/>
      </p:cViewPr>
      <p:guideLst>
        <p:guide orient="horz" pos="2273"/>
        <p:guide pos="3840"/>
        <p:guide orient="horz" pos="16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we Ricken" userId="f02567aecbed924b" providerId="LiveId" clId="{E77B627B-1F43-41A9-9F24-D4BB31BF6050}"/>
    <pc:docChg chg="undo custSel addSld delSld modSld sldOrd delMainMaster modMainMaster">
      <pc:chgData name="Uwe Ricken" userId="f02567aecbed924b" providerId="LiveId" clId="{E77B627B-1F43-41A9-9F24-D4BB31BF6050}" dt="2026-04-02T05:14:11.938" v="1851" actId="20577"/>
      <pc:docMkLst>
        <pc:docMk/>
      </pc:docMkLst>
      <pc:sldChg chg="modSp add del mod">
        <pc:chgData name="Uwe Ricken" userId="f02567aecbed924b" providerId="LiveId" clId="{E77B627B-1F43-41A9-9F24-D4BB31BF6050}" dt="2026-04-01T12:50:09.323" v="1813" actId="47"/>
        <pc:sldMkLst>
          <pc:docMk/>
          <pc:sldMk cId="939547934" sldId="437"/>
        </pc:sldMkLst>
      </pc:sldChg>
      <pc:sldChg chg="addSp delSp modSp new mod modClrScheme chgLayout">
        <pc:chgData name="Uwe Ricken" userId="f02567aecbed924b" providerId="LiveId" clId="{E77B627B-1F43-41A9-9F24-D4BB31BF6050}" dt="2026-04-02T05:14:11.938" v="1851" actId="20577"/>
        <pc:sldMkLst>
          <pc:docMk/>
          <pc:sldMk cId="1680503204" sldId="437"/>
        </pc:sldMkLst>
        <pc:spChg chg="del mod ord">
          <ac:chgData name="Uwe Ricken" userId="f02567aecbed924b" providerId="LiveId" clId="{E77B627B-1F43-41A9-9F24-D4BB31BF6050}" dt="2026-04-02T05:13:55.810" v="1815" actId="700"/>
          <ac:spMkLst>
            <pc:docMk/>
            <pc:sldMk cId="1680503204" sldId="437"/>
            <ac:spMk id="2" creationId="{C71F996B-0E57-81CD-F1DC-6481CC0670BE}"/>
          </ac:spMkLst>
        </pc:spChg>
        <pc:spChg chg="add mod ord">
          <ac:chgData name="Uwe Ricken" userId="f02567aecbed924b" providerId="LiveId" clId="{E77B627B-1F43-41A9-9F24-D4BB31BF6050}" dt="2026-04-02T05:14:11.938" v="1851" actId="20577"/>
          <ac:spMkLst>
            <pc:docMk/>
            <pc:sldMk cId="1680503204" sldId="437"/>
            <ac:spMk id="3" creationId="{6AAD6AE5-1476-3A9D-4368-318143ECC3B9}"/>
          </ac:spMkLst>
        </pc:spChg>
        <pc:spChg chg="add mod ord">
          <ac:chgData name="Uwe Ricken" userId="f02567aecbed924b" providerId="LiveId" clId="{E77B627B-1F43-41A9-9F24-D4BB31BF6050}" dt="2026-04-02T05:13:55.810" v="1815" actId="700"/>
          <ac:spMkLst>
            <pc:docMk/>
            <pc:sldMk cId="1680503204" sldId="437"/>
            <ac:spMk id="4" creationId="{FCA27E2E-D765-E9DC-347F-D3C06C3AA56A}"/>
          </ac:spMkLst>
        </pc:spChg>
      </pc:sldChg>
      <pc:sldChg chg="addSp delSp modSp new del mod modClrScheme addAnim delAnim modAnim chgLayout">
        <pc:chgData name="Uwe Ricken" userId="f02567aecbed924b" providerId="LiveId" clId="{E77B627B-1F43-41A9-9F24-D4BB31BF6050}" dt="2026-04-01T12:50:09.323" v="1813" actId="47"/>
        <pc:sldMkLst>
          <pc:docMk/>
          <pc:sldMk cId="3121936044" sldId="438"/>
        </pc:sldMkLst>
      </pc:sldChg>
      <pc:sldChg chg="addSp modSp new del mod">
        <pc:chgData name="Uwe Ricken" userId="f02567aecbed924b" providerId="LiveId" clId="{E77B627B-1F43-41A9-9F24-D4BB31BF6050}" dt="2026-04-01T12:50:09.323" v="1813" actId="47"/>
        <pc:sldMkLst>
          <pc:docMk/>
          <pc:sldMk cId="2010420718" sldId="439"/>
        </pc:sldMkLst>
      </pc:sldChg>
      <pc:sldChg chg="new del ord">
        <pc:chgData name="Uwe Ricken" userId="f02567aecbed924b" providerId="LiveId" clId="{E77B627B-1F43-41A9-9F24-D4BB31BF6050}" dt="2026-04-01T12:50:09.323" v="1813" actId="47"/>
        <pc:sldMkLst>
          <pc:docMk/>
          <pc:sldMk cId="131122079" sldId="44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419B01-702D-4879-AE3A-0F34CD7B4394}" type="datetimeFigureOut">
              <a:rPr lang="en-US" smtClean="0"/>
              <a:t>10/11/2026</a:t>
            </a:fld>
            <a:endParaRPr lang="en-US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D87099-C0C6-4F38-9801-AB4DAE2F271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540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25FEC-7C18-60B8-98B1-60D0F5B8C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F5E642F-23D6-52E3-EBD2-5C2DF0A17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3AA8CF4-52D7-91A4-F045-1784645DF0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8E34B57-B026-F483-9802-E5E07F12C4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344A-B714-4F18-AE6B-1553157C321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775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5FB60-BC53-6F1B-398D-0F6A52E54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92FD164-FF45-E917-64D4-A0CC576275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56ECBD2-6E2A-E80A-96E3-48DD92D59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8DAC099-C21C-92EF-5A1A-DBB435AC5D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344A-B714-4F18-AE6B-1553157C321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746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44245" y="1665289"/>
            <a:ext cx="11510683" cy="1763712"/>
          </a:xfrm>
        </p:spPr>
        <p:txBody>
          <a:bodyPr anchor="b">
            <a:normAutofit/>
          </a:bodyPr>
          <a:lstStyle>
            <a:lvl1pPr algn="ctr">
              <a:defRPr sz="4000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44245" y="3602044"/>
            <a:ext cx="11510683" cy="201195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43" indent="0" algn="ctr">
              <a:buNone/>
              <a:defRPr sz="2000"/>
            </a:lvl2pPr>
            <a:lvl3pPr marL="914286" indent="0" algn="ctr">
              <a:buNone/>
              <a:defRPr sz="1867"/>
            </a:lvl3pPr>
            <a:lvl4pPr marL="1371430" indent="0" algn="ctr">
              <a:buNone/>
              <a:defRPr sz="1600"/>
            </a:lvl4pPr>
            <a:lvl5pPr marL="1828573" indent="0" algn="ctr">
              <a:buNone/>
              <a:defRPr sz="1600"/>
            </a:lvl5pPr>
            <a:lvl6pPr marL="2285718" indent="0" algn="ctr">
              <a:buNone/>
              <a:defRPr sz="1600"/>
            </a:lvl6pPr>
            <a:lvl7pPr marL="2742858" indent="0" algn="ctr">
              <a:buNone/>
              <a:defRPr sz="1600"/>
            </a:lvl7pPr>
            <a:lvl8pPr marL="3200000" indent="0" algn="ctr">
              <a:buNone/>
              <a:defRPr sz="1600"/>
            </a:lvl8pPr>
            <a:lvl9pPr marL="3657143" indent="0" algn="ctr">
              <a:buNone/>
              <a:defRPr sz="1600"/>
            </a:lvl9pPr>
          </a:lstStyle>
          <a:p>
            <a:r>
              <a:rPr lang="de-DE" noProof="0"/>
              <a:t>Master-Untertitelformat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858081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5" y="441326"/>
            <a:ext cx="9037636" cy="1116015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34965" y="1665288"/>
            <a:ext cx="11522075" cy="4572000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826369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5" y="441326"/>
            <a:ext cx="9037635" cy="111601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34966" y="1665288"/>
            <a:ext cx="5581743" cy="4572000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71709" y="1665291"/>
            <a:ext cx="5585331" cy="4571999"/>
          </a:xfrm>
        </p:spPr>
        <p:txBody>
          <a:bodyPr/>
          <a:lstStyle/>
          <a:p>
            <a:pPr lvl="0"/>
            <a:r>
              <a:rPr lang="de-DE" noProof="0"/>
              <a:t>Mastertextformat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38327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4966" y="441326"/>
            <a:ext cx="8640761" cy="111601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44389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b Berater - Coding Examp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368066" y="1678742"/>
            <a:ext cx="6488975" cy="455854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latin typeface="Lucida Console" panose="020B0609040504020204" pitchFamily="49" charset="0"/>
              </a:defRPr>
            </a:lvl1pPr>
            <a:lvl2pPr marL="457155" indent="0">
              <a:buNone/>
              <a:defRPr sz="1600">
                <a:latin typeface="Lucida Console" panose="020B0609040504020204" pitchFamily="49" charset="0"/>
              </a:defRPr>
            </a:lvl2pPr>
            <a:lvl3pPr marL="914308" indent="0">
              <a:buNone/>
              <a:defRPr sz="1600">
                <a:latin typeface="Lucida Console" panose="020B0609040504020204" pitchFamily="49" charset="0"/>
              </a:defRPr>
            </a:lvl3pPr>
            <a:lvl4pPr marL="1371462" indent="0">
              <a:buNone/>
              <a:defRPr sz="1600">
                <a:latin typeface="Lucida Console" panose="020B0609040504020204" pitchFamily="49" charset="0"/>
              </a:defRPr>
            </a:lvl4pPr>
            <a:lvl5pPr marL="1828618" indent="0">
              <a:buNone/>
              <a:defRPr sz="1600">
                <a:latin typeface="Lucida Console" panose="020B0609040504020204" pitchFamily="49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34964" y="1678742"/>
            <a:ext cx="5033101" cy="4558548"/>
          </a:xfrm>
        </p:spPr>
        <p:txBody>
          <a:bodyPr/>
          <a:lstStyle>
            <a:lvl1pPr marL="228589" indent="-228589">
              <a:buFont typeface="Arial" panose="020B0604020202020204" pitchFamily="34" charset="0"/>
              <a:buChar char="•"/>
              <a:defRPr sz="1600"/>
            </a:lvl1pPr>
            <a:lvl2pPr marL="457143" indent="0">
              <a:buNone/>
              <a:defRPr sz="1467"/>
            </a:lvl2pPr>
            <a:lvl3pPr marL="914286" indent="0">
              <a:buNone/>
              <a:defRPr sz="1200"/>
            </a:lvl3pPr>
            <a:lvl4pPr marL="1371430" indent="0">
              <a:buNone/>
              <a:defRPr sz="1067"/>
            </a:lvl4pPr>
            <a:lvl5pPr marL="1828573" indent="0">
              <a:buNone/>
              <a:defRPr sz="1067"/>
            </a:lvl5pPr>
            <a:lvl6pPr marL="2285718" indent="0">
              <a:buNone/>
              <a:defRPr sz="1067"/>
            </a:lvl6pPr>
            <a:lvl7pPr marL="2742858" indent="0">
              <a:buNone/>
              <a:defRPr sz="1067"/>
            </a:lvl7pPr>
            <a:lvl8pPr marL="3200000" indent="0">
              <a:buNone/>
              <a:defRPr sz="1067"/>
            </a:lvl8pPr>
            <a:lvl9pPr marL="3657143" indent="0">
              <a:buNone/>
              <a:defRPr sz="1067"/>
            </a:lvl9pPr>
          </a:lstStyle>
          <a:p>
            <a:pPr lvl="0"/>
            <a:r>
              <a:rPr lang="de-DE" noProof="0"/>
              <a:t>Mastertextformat bearbeiten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A12C8F18-4741-03DA-3F19-FC0858FBF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41326"/>
            <a:ext cx="9037637" cy="111601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noProof="0"/>
              <a:t>Mastertitelformat bearbeiten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03983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35361" y="449032"/>
            <a:ext cx="9037240" cy="1108307"/>
          </a:xfrm>
          <a:prstGeom prst="rect">
            <a:avLst/>
          </a:prstGeom>
        </p:spPr>
        <p:txBody>
          <a:bodyPr anchor="ctr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35360" y="1665288"/>
            <a:ext cx="5664629" cy="464403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2012" y="1665288"/>
            <a:ext cx="5664629" cy="4644032"/>
          </a:xfrm>
        </p:spPr>
        <p:txBody>
          <a:bodyPr>
            <a:normAutofit/>
          </a:bodyPr>
          <a:lstStyle>
            <a:lvl1pPr>
              <a:defRPr sz="1800" b="1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02704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635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hyperlink" Target="http://www.db-berater.de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54107" y="450852"/>
            <a:ext cx="9018492" cy="1102353"/>
          </a:xfrm>
          <a:prstGeom prst="rect">
            <a:avLst/>
          </a:prstGeom>
        </p:spPr>
        <p:txBody>
          <a:bodyPr vert="horz" lIns="68579" tIns="34289" rIns="68579" bIns="34289" rtlCol="0" anchor="ctr">
            <a:normAutofit/>
          </a:bodyPr>
          <a:lstStyle/>
          <a:p>
            <a:r>
              <a:rPr lang="en-US" noProof="0" dirty="0" err="1"/>
              <a:t>Titelmasterformat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54107" y="1665290"/>
            <a:ext cx="11490063" cy="4571999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/>
          <a:p>
            <a:pPr lvl="0"/>
            <a:r>
              <a:rPr lang="en-US" noProof="0" dirty="0" err="1"/>
              <a:t>Textmasterformat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/>
            <a:r>
              <a:rPr lang="en-US" noProof="0" dirty="0" err="1"/>
              <a:t>Zweite</a:t>
            </a:r>
            <a:r>
              <a:rPr lang="en-US" noProof="0" dirty="0"/>
              <a:t> Ebene</a:t>
            </a:r>
          </a:p>
          <a:p>
            <a:pPr lvl="2"/>
            <a:r>
              <a:rPr lang="en-US" noProof="0" dirty="0" err="1"/>
              <a:t>Dritte</a:t>
            </a:r>
            <a:r>
              <a:rPr lang="en-US" noProof="0" dirty="0"/>
              <a:t> Ebene</a:t>
            </a:r>
          </a:p>
          <a:p>
            <a:pPr lvl="3"/>
            <a:r>
              <a:rPr lang="en-US" noProof="0" dirty="0" err="1"/>
              <a:t>Vierte</a:t>
            </a:r>
            <a:r>
              <a:rPr lang="en-US" noProof="0" dirty="0"/>
              <a:t> Ebene</a:t>
            </a:r>
          </a:p>
          <a:p>
            <a:pPr lvl="4"/>
            <a:r>
              <a:rPr lang="en-US" noProof="0" dirty="0" err="1"/>
              <a:t>Fünfte</a:t>
            </a:r>
            <a:r>
              <a:rPr lang="en-US" noProof="0" dirty="0"/>
              <a:t> Ebene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9372600" y="450848"/>
            <a:ext cx="247156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noProof="0" dirty="0">
                <a:solidFill>
                  <a:schemeClr val="accent1"/>
                </a:solidFill>
                <a:latin typeface="Calibri" panose="020F0502020204030204" pitchFamily="34" charset="0"/>
              </a:rPr>
              <a:t>db </a:t>
            </a:r>
            <a:r>
              <a:rPr lang="en-US" sz="2400" b="1" noProof="0" dirty="0">
                <a:latin typeface="Calibri" panose="020F0502020204030204" pitchFamily="34" charset="0"/>
              </a:rPr>
              <a:t>Berater GmbH</a:t>
            </a:r>
          </a:p>
          <a:p>
            <a:pPr algn="r"/>
            <a:r>
              <a:rPr lang="en-US" sz="1000" b="1" noProof="0" dirty="0" err="1"/>
              <a:t>Planung</a:t>
            </a:r>
            <a:r>
              <a:rPr lang="en-US" sz="1000" b="1" noProof="0" dirty="0"/>
              <a:t> – Installation</a:t>
            </a:r>
            <a:r>
              <a:rPr lang="en-US" sz="1000" b="1" baseline="0" noProof="0" dirty="0"/>
              <a:t> – </a:t>
            </a:r>
            <a:r>
              <a:rPr lang="en-US" sz="1000" b="1" baseline="0" noProof="0" dirty="0" err="1"/>
              <a:t>Optimierung</a:t>
            </a:r>
            <a:br>
              <a:rPr lang="en-US" sz="1000" b="1" baseline="0" noProof="0" dirty="0"/>
            </a:br>
            <a:br>
              <a:rPr lang="en-US" sz="1000" b="1" baseline="0" noProof="0" dirty="0"/>
            </a:br>
            <a:endParaRPr lang="en-US" sz="1000" b="1" noProof="0" dirty="0"/>
          </a:p>
          <a:p>
            <a:pPr algn="r"/>
            <a:r>
              <a:rPr lang="en-US" sz="1000" b="1" noProof="0" dirty="0">
                <a:hlinkClick r:id="rId9"/>
              </a:rPr>
              <a:t>http://www.db-berater.de</a:t>
            </a:r>
            <a:endParaRPr lang="en-US" sz="1000" b="1" noProof="0" dirty="0"/>
          </a:p>
          <a:p>
            <a:pPr algn="r"/>
            <a:r>
              <a:rPr lang="en-US" sz="1000" b="1" noProof="0" dirty="0"/>
              <a:t>info@db-berater.de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CE3090C9-CD56-60CA-9231-B8662A341995}"/>
              </a:ext>
            </a:extLst>
          </p:cNvPr>
          <p:cNvSpPr/>
          <p:nvPr/>
        </p:nvSpPr>
        <p:spPr>
          <a:xfrm>
            <a:off x="0" y="6309320"/>
            <a:ext cx="12192000" cy="54868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Textfeld 7"/>
          <p:cNvSpPr txBox="1"/>
          <p:nvPr/>
        </p:nvSpPr>
        <p:spPr>
          <a:xfrm>
            <a:off x="9648395" y="6429773"/>
            <a:ext cx="2296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noProof="0" dirty="0">
                <a:solidFill>
                  <a:schemeClr val="bg1"/>
                </a:solidFill>
              </a:rPr>
              <a:t>© db</a:t>
            </a:r>
            <a:r>
              <a:rPr lang="en-US" sz="1200" b="1" baseline="0" noProof="0" dirty="0">
                <a:solidFill>
                  <a:schemeClr val="bg1"/>
                </a:solidFill>
              </a:rPr>
              <a:t> Berater GmbH (</a:t>
            </a:r>
            <a:fld id="{918F7804-3F46-47BC-B8F6-F601438D5C89}" type="datetimeyyyy">
              <a:rPr lang="en-US" sz="1200" b="1" baseline="0" noProof="0" smtClean="0">
                <a:solidFill>
                  <a:schemeClr val="bg1"/>
                </a:solidFill>
              </a:rPr>
              <a:t>2026</a:t>
            </a:fld>
            <a:r>
              <a:rPr lang="en-US" sz="1200" b="1" baseline="0" noProof="0" dirty="0">
                <a:solidFill>
                  <a:schemeClr val="bg1"/>
                </a:solidFill>
              </a:rPr>
              <a:t>)</a:t>
            </a:r>
            <a:endParaRPr lang="en-US" sz="1200" b="1" noProof="0" dirty="0">
              <a:solidFill>
                <a:schemeClr val="bg1"/>
              </a:solidFill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290584" y="6429773"/>
            <a:ext cx="48453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noProof="0" dirty="0">
                <a:solidFill>
                  <a:schemeClr val="bg2"/>
                </a:solidFill>
              </a:rPr>
              <a:t>Author</a:t>
            </a:r>
            <a:r>
              <a:rPr lang="en-US" sz="1200" b="1" noProof="0" dirty="0">
                <a:solidFill>
                  <a:schemeClr val="bg1"/>
                </a:solidFill>
              </a:rPr>
              <a:t>: Uwe Ricken (Data Platform MVP / MCM)</a:t>
            </a:r>
          </a:p>
        </p:txBody>
      </p:sp>
    </p:spTree>
    <p:extLst>
      <p:ext uri="{BB962C8B-B14F-4D97-AF65-F5344CB8AC3E}">
        <p14:creationId xmlns:p14="http://schemas.microsoft.com/office/powerpoint/2010/main" val="3837585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</p:sldLayoutIdLst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5B9BD5"/>
          </a:solidFill>
          <a:latin typeface="+mj-lt"/>
          <a:ea typeface="+mj-ea"/>
          <a:cs typeface="+mj-cs"/>
        </a:defRPr>
      </a:lvl1pPr>
    </p:titleStyle>
    <p:bodyStyle>
      <a:lvl1pPr marL="228578" indent="-228578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4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5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4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8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4" indent="-228578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55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4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8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4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5" algn="l" defTabSz="914309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b-berater.de/downloads/ERP_Demo_2012.bak" TargetMode="External"/><Relationship Id="rId2" Type="http://schemas.openxmlformats.org/officeDocument/2006/relationships/hyperlink" Target="https://github.com/db-berater/solving-deadlock-scenario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https://go.microsoft.com/fwlink/?linkid=2220149&amp;clcid=0x407&amp;culture=de-de&amp;country=de" TargetMode="External"/><Relationship Id="rId4" Type="http://schemas.openxmlformats.org/officeDocument/2006/relationships/hyperlink" Target="https://github.com/ErikEJ/SqlQueryStress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mailto:uwe.ricken@db-berater.de" TargetMode="External"/><Relationship Id="rId7" Type="http://schemas.openxmlformats.org/officeDocument/2006/relationships/image" Target="../media/image3.jpg"/><Relationship Id="rId2" Type="http://schemas.openxmlformats.org/officeDocument/2006/relationships/hyperlink" Target="http://www.db-berater.de/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s://bsky.app/profile/sqlbambi.bsky.social" TargetMode="External"/><Relationship Id="rId4" Type="http://schemas.openxmlformats.org/officeDocument/2006/relationships/hyperlink" Target="http://www.sqlmaster.de/" TargetMode="External"/><Relationship Id="rId9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qlchallenges.de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sqlchallenges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sql/relational-databases/media/sql-server-transaction-locking-and-row-versioning-guide/sql-server-lock-conflict-compatibility.png?view=sql-server-ver16#lightbox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b-berater/solving-deadlock-scenarios" TargetMode="External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3F2781-03F5-529F-F38B-F5D4FD12CC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Deadlock Scenarios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C4BE029-9EF0-3C13-9557-100970EE12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How to solve Deadlock Scenarios</a:t>
            </a:r>
          </a:p>
        </p:txBody>
      </p:sp>
    </p:spTree>
    <p:extLst>
      <p:ext uri="{BB962C8B-B14F-4D97-AF65-F5344CB8AC3E}">
        <p14:creationId xmlns:p14="http://schemas.microsoft.com/office/powerpoint/2010/main" val="3145909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A66F59-B715-4CE2-83DF-6D035DD59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Links for this Session/Workshop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727BD7-7924-41DC-BF8D-0990B5F36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Scripts and Slide Decks</a:t>
            </a:r>
            <a:br>
              <a:rPr lang="en-US" noProof="0" dirty="0"/>
            </a:br>
            <a:r>
              <a:rPr lang="en-US" noProof="0" dirty="0">
                <a:hlinkClick r:id="rId2"/>
              </a:rPr>
              <a:t>https://github.com/db-berater/solving-deadlock-scenarios</a:t>
            </a:r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ERP Demo Database (17.00 GB)</a:t>
            </a:r>
            <a:br>
              <a:rPr lang="en-US" noProof="0" dirty="0"/>
            </a:br>
            <a:r>
              <a:rPr lang="en-US" noProof="0" dirty="0">
                <a:hlinkClick r:id="rId3"/>
              </a:rPr>
              <a:t>https://db-berater.de/downloads/ERP_Demo_2012.bak</a:t>
            </a:r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SQLQueryStress</a:t>
            </a:r>
            <a:br>
              <a:rPr lang="en-US" noProof="0" dirty="0"/>
            </a:br>
            <a:r>
              <a:rPr lang="en-US" noProof="0" dirty="0">
                <a:hlinkClick r:id="rId4"/>
              </a:rPr>
              <a:t>https://github.com/ErikEJ/SqlQueryStress</a:t>
            </a:r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Windows Admin Center</a:t>
            </a:r>
            <a:br>
              <a:rPr lang="en-US" noProof="0" dirty="0"/>
            </a:br>
            <a:r>
              <a:rPr lang="en-US" noProof="0" dirty="0">
                <a:hlinkClick r:id="rId5"/>
              </a:rPr>
              <a:t>https://go.microsoft.com/fwlink/?linkid=2220149</a:t>
            </a:r>
            <a:endParaRPr lang="en-US" noProof="0" dirty="0"/>
          </a:p>
          <a:p>
            <a:endParaRPr lang="en-US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108A44B-F187-3775-CA07-B505E7EC87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683463" y="2374809"/>
            <a:ext cx="3381919" cy="338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969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Uwe Ricken</a:t>
            </a:r>
            <a:br>
              <a:rPr lang="de-DE" dirty="0"/>
            </a:br>
            <a:r>
              <a:rPr lang="de-DE" sz="1800" b="0" dirty="0"/>
              <a:t>db </a:t>
            </a:r>
            <a:r>
              <a:rPr lang="de-DE" sz="1800" b="0" dirty="0">
                <a:solidFill>
                  <a:schemeClr val="tx1"/>
                </a:solidFill>
              </a:rPr>
              <a:t>Berater GmbH</a:t>
            </a:r>
          </a:p>
        </p:txBody>
      </p:sp>
      <p:sp>
        <p:nvSpPr>
          <p:cNvPr id="2" name="Inhaltsplatzhalter 1"/>
          <p:cNvSpPr>
            <a:spLocks noGrp="1"/>
          </p:cNvSpPr>
          <p:nvPr>
            <p:ph sz="half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I am working with IT-systems since early 1990's and with the main focus on </a:t>
            </a:r>
            <a:r>
              <a:rPr lang="en-US" sz="1400" b="1" i="1" dirty="0">
                <a:solidFill>
                  <a:schemeClr val="accent5"/>
                </a:solidFill>
              </a:rPr>
              <a:t>Microsoft SQL Server </a:t>
            </a:r>
            <a:r>
              <a:rPr lang="en-US" sz="1400" dirty="0"/>
              <a:t>since version 6.0. I started with development of database applications in 1998 with a professional CRM-System based on Microsoft products (Microsoft Office and </a:t>
            </a:r>
            <a:r>
              <a:rPr lang="en-US" sz="1400" b="1" i="1" dirty="0">
                <a:solidFill>
                  <a:schemeClr val="accent5"/>
                </a:solidFill>
              </a:rPr>
              <a:t>Microsoft SQL Server</a:t>
            </a:r>
            <a:r>
              <a:rPr lang="en-US" sz="1400" dirty="0"/>
              <a:t>).</a:t>
            </a:r>
          </a:p>
          <a:p>
            <a:pPr marL="0" indent="0">
              <a:buNone/>
            </a:pPr>
            <a:br>
              <a:rPr lang="en-US" sz="1400" dirty="0"/>
            </a:br>
            <a:r>
              <a:rPr lang="en-US" sz="1400" dirty="0"/>
              <a:t>Since 2008 I'm focused exclusively on </a:t>
            </a:r>
            <a:r>
              <a:rPr lang="en-US" sz="1400" b="1" i="1" dirty="0">
                <a:solidFill>
                  <a:schemeClr val="accent5"/>
                </a:solidFill>
              </a:rPr>
              <a:t>Microsoft SQL Server</a:t>
            </a:r>
            <a:r>
              <a:rPr lang="en-US" sz="1400" dirty="0"/>
              <a:t> and working in 3rd level support teams for banks, insurances and global industries.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Since May 2013 I am a </a:t>
            </a:r>
            <a:r>
              <a:rPr lang="en-US" sz="1400" b="1" dirty="0">
                <a:solidFill>
                  <a:srgbClr val="FF0000"/>
                </a:solidFill>
              </a:rPr>
              <a:t>Microsoft Certified Master: SQL Server 2008 </a:t>
            </a:r>
            <a:r>
              <a:rPr lang="en-US" sz="1400" dirty="0"/>
              <a:t>which was an amazing way into the depth of </a:t>
            </a:r>
            <a:r>
              <a:rPr lang="en-US" sz="1400" b="1" i="1" dirty="0">
                <a:solidFill>
                  <a:schemeClr val="accent5"/>
                </a:solidFill>
              </a:rPr>
              <a:t>Microsoft SQL Server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In July 2013 I have been awarded with the MVP Award for </a:t>
            </a:r>
            <a:r>
              <a:rPr lang="en-US" sz="1400" b="1" i="1" dirty="0">
                <a:solidFill>
                  <a:schemeClr val="accent5"/>
                </a:solidFill>
              </a:rPr>
              <a:t>Microsoft SQL Server</a:t>
            </a:r>
            <a:r>
              <a:rPr lang="en-US" sz="1400" dirty="0"/>
              <a:t>.</a:t>
            </a:r>
            <a:endParaRPr lang="de-DE" sz="1400" dirty="0"/>
          </a:p>
        </p:txBody>
      </p:sp>
      <p:sp>
        <p:nvSpPr>
          <p:cNvPr id="6" name="Textplatzhalter 5"/>
          <p:cNvSpPr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buNone/>
              <a:tabLst>
                <a:tab pos="903243" algn="l"/>
              </a:tabLst>
            </a:pPr>
            <a:r>
              <a:rPr lang="de-DE" sz="1400" b="1" dirty="0"/>
              <a:t>www</a:t>
            </a:r>
            <a:r>
              <a:rPr lang="de-DE" sz="1400" dirty="0"/>
              <a:t>:	</a:t>
            </a:r>
            <a:r>
              <a:rPr lang="de-DE" sz="1400" dirty="0">
                <a:hlinkClick r:id="rId2"/>
              </a:rPr>
              <a:t>http://www.db-berater.de</a:t>
            </a:r>
            <a:endParaRPr lang="de-DE" sz="1400" dirty="0"/>
          </a:p>
          <a:p>
            <a:pPr marL="0" indent="0">
              <a:buNone/>
              <a:tabLst>
                <a:tab pos="903243" algn="l"/>
              </a:tabLst>
            </a:pPr>
            <a:r>
              <a:rPr lang="de-DE" sz="1400" b="1" dirty="0"/>
              <a:t>email</a:t>
            </a:r>
            <a:r>
              <a:rPr lang="de-DE" sz="1400" dirty="0"/>
              <a:t>:	</a:t>
            </a:r>
            <a:r>
              <a:rPr lang="de-DE" sz="1400" dirty="0">
                <a:hlinkClick r:id="rId3"/>
              </a:rPr>
              <a:t>uwe.ricken@db-berater.de</a:t>
            </a:r>
            <a:endParaRPr lang="de-DE" sz="1400" dirty="0"/>
          </a:p>
          <a:p>
            <a:pPr marL="0" indent="0">
              <a:buNone/>
              <a:tabLst>
                <a:tab pos="903243" algn="l"/>
              </a:tabLst>
            </a:pPr>
            <a:r>
              <a:rPr lang="de-DE" sz="1400" b="1" dirty="0"/>
              <a:t>blog</a:t>
            </a:r>
            <a:r>
              <a:rPr lang="de-DE" sz="1400" dirty="0"/>
              <a:t>:	</a:t>
            </a:r>
            <a:r>
              <a:rPr lang="de-DE" sz="1400" dirty="0">
                <a:hlinkClick r:id="rId4"/>
              </a:rPr>
              <a:t>http://www.sqlmaster.de</a:t>
            </a:r>
            <a:endParaRPr lang="de-DE" sz="1400" dirty="0"/>
          </a:p>
          <a:p>
            <a:pPr marL="0" indent="0">
              <a:buNone/>
              <a:tabLst>
                <a:tab pos="903243" algn="l"/>
              </a:tabLst>
            </a:pPr>
            <a:r>
              <a:rPr lang="de-DE" sz="1400" b="1" dirty="0"/>
              <a:t>BlueSky</a:t>
            </a:r>
            <a:r>
              <a:rPr lang="de-DE" sz="1400" dirty="0"/>
              <a:t>:	</a:t>
            </a:r>
            <a:r>
              <a:rPr lang="de-DE" sz="1400" dirty="0">
                <a:hlinkClick r:id="rId5"/>
              </a:rPr>
              <a:t>@sqlbambi</a:t>
            </a:r>
            <a:endParaRPr lang="de-DE" sz="1400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272" y="3494589"/>
            <a:ext cx="1143000" cy="835819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0472" y="3494589"/>
            <a:ext cx="1143000" cy="857251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273" y="4682333"/>
            <a:ext cx="1458955" cy="598545"/>
          </a:xfrm>
          <a:prstGeom prst="rect">
            <a:avLst/>
          </a:prstGeom>
        </p:spPr>
      </p:pic>
      <p:pic>
        <p:nvPicPr>
          <p:cNvPr id="5" name="Grafik 4" descr="Ein Bild, das Person, Mann, Brille, tragen enthält.&#10;&#10;Automatisch generierte Beschreibung">
            <a:extLst>
              <a:ext uri="{FF2B5EF4-FFF2-40B4-BE49-F238E27FC236}">
                <a16:creationId xmlns:a16="http://schemas.microsoft.com/office/drawing/2014/main" id="{46333317-A6F3-B2D3-B9F5-6B4A79A834BA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58"/>
          <a:stretch/>
        </p:blipFill>
        <p:spPr>
          <a:xfrm>
            <a:off x="6499642" y="3429000"/>
            <a:ext cx="1715073" cy="185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187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5341E920-2BA9-C6AC-D645-F3BC0BFB5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066" y="2149215"/>
            <a:ext cx="6488975" cy="3617602"/>
          </a:xfrm>
          <a:prstGeom prst="rect">
            <a:avLst/>
          </a:prstGeom>
          <a:noFill/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D5F1E84-96EA-2FC2-EB23-C97E371D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Get a challenge at least once a month</a:t>
            </a:r>
          </a:p>
          <a:p>
            <a:r>
              <a:rPr lang="en-US" dirty="0"/>
              <a:t>Connect to a provided SQL Server Instance</a:t>
            </a:r>
          </a:p>
          <a:p>
            <a:r>
              <a:rPr lang="en-US" dirty="0"/>
              <a:t>Load the challenge scenario</a:t>
            </a:r>
          </a:p>
          <a:p>
            <a:r>
              <a:rPr lang="en-US" dirty="0"/>
              <a:t>Try to solve it</a:t>
            </a:r>
          </a:p>
          <a:p>
            <a:r>
              <a:rPr lang="en-US" dirty="0"/>
              <a:t>Blog about your solution</a:t>
            </a:r>
          </a:p>
          <a:p>
            <a:r>
              <a:rPr lang="en-US" dirty="0"/>
              <a:t>Leave a link in the comments of the challenge to your blog post.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https://sqlchallenges.de</a:t>
            </a:r>
            <a:endParaRPr lang="en-US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6F77BBF-034A-A53E-C4B8-E4039AC9F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Challenge SQL Server real world scenarios</a:t>
            </a:r>
          </a:p>
        </p:txBody>
      </p:sp>
    </p:spTree>
    <p:extLst>
      <p:ext uri="{BB962C8B-B14F-4D97-AF65-F5344CB8AC3E}">
        <p14:creationId xmlns:p14="http://schemas.microsoft.com/office/powerpoint/2010/main" val="920116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3B7A7-38F8-B838-82CA-C5F4C9603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33FA4640-BA19-235A-185B-0650C5C7D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5661" y="2149215"/>
            <a:ext cx="6113784" cy="3617602"/>
          </a:xfrm>
          <a:prstGeom prst="rect">
            <a:avLst/>
          </a:prstGeom>
          <a:noFill/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30E739F-4D36-9988-A5D5-ED27689E9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4" y="1678742"/>
            <a:ext cx="5033101" cy="4558548"/>
          </a:xfrm>
        </p:spPr>
        <p:txBody>
          <a:bodyPr/>
          <a:lstStyle/>
          <a:p>
            <a:pPr lvl="0"/>
            <a:r>
              <a:rPr lang="en-US" dirty="0"/>
              <a:t>Learn SQL Server concepts through relatable real‑world analogies</a:t>
            </a:r>
          </a:p>
          <a:p>
            <a:pPr lvl="0"/>
            <a:r>
              <a:rPr lang="en-US" dirty="0"/>
              <a:t>Understand engine behavior without deep technical prerequisites</a:t>
            </a:r>
          </a:p>
          <a:p>
            <a:pPr lvl="0"/>
            <a:r>
              <a:rPr lang="en-US" dirty="0"/>
              <a:t>Bridge the gap between technical and non‑technical roles</a:t>
            </a:r>
          </a:p>
          <a:p>
            <a:pPr lvl="0"/>
            <a:r>
              <a:rPr lang="en-US" dirty="0"/>
              <a:t>Make performance, security, and architecture decisions easier to grasp</a:t>
            </a:r>
          </a:p>
          <a:p>
            <a:pPr lvl="0"/>
            <a:r>
              <a:rPr lang="en-US" dirty="0"/>
              <a:t>Build lasting intuition by connecting SQL Server to everyday situations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https://www.youtube.com/@sqlchallenges</a:t>
            </a:r>
            <a:endParaRPr lang="en-US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AFBAEE6-1C06-A4DC-817F-EB456C458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441326"/>
            <a:ext cx="9037637" cy="1116015"/>
          </a:xfrm>
        </p:spPr>
        <p:txBody>
          <a:bodyPr anchor="ctr">
            <a:normAutofit/>
          </a:bodyPr>
          <a:lstStyle/>
          <a:p>
            <a:r>
              <a:rPr lang="en-US" dirty="0"/>
              <a:t>SQL Server for Juniors, Managers &amp; Consultants</a:t>
            </a:r>
          </a:p>
        </p:txBody>
      </p:sp>
    </p:spTree>
    <p:extLst>
      <p:ext uri="{BB962C8B-B14F-4D97-AF65-F5344CB8AC3E}">
        <p14:creationId xmlns:p14="http://schemas.microsoft.com/office/powerpoint/2010/main" val="103624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99AE4D88-466F-4BA6-917F-396AC585B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584846F-DF71-4A64-98B4-A74662F88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Lock Types</a:t>
            </a:r>
          </a:p>
          <a:p>
            <a:r>
              <a:rPr lang="en-GB" dirty="0"/>
              <a:t>Transaction Isolation Levels</a:t>
            </a:r>
          </a:p>
          <a:p>
            <a:pPr lvl="1"/>
            <a:r>
              <a:rPr lang="en-GB" dirty="0"/>
              <a:t>Pessimistic Isolation Levels</a:t>
            </a:r>
          </a:p>
          <a:p>
            <a:pPr lvl="1"/>
            <a:r>
              <a:rPr lang="en-GB" dirty="0"/>
              <a:t>Optimistic Isolation Levels</a:t>
            </a:r>
          </a:p>
          <a:p>
            <a:r>
              <a:rPr lang="en-GB" dirty="0"/>
              <a:t>Deadlock Scenarios</a:t>
            </a:r>
          </a:p>
          <a:p>
            <a:pPr lvl="1"/>
            <a:r>
              <a:rPr lang="en-GB" dirty="0"/>
              <a:t>Classic deadlock</a:t>
            </a:r>
          </a:p>
          <a:p>
            <a:pPr lvl="1"/>
            <a:r>
              <a:rPr lang="en-GB" dirty="0"/>
              <a:t>Deadlock with referential integrity</a:t>
            </a:r>
          </a:p>
          <a:p>
            <a:pPr lvl="1"/>
            <a:r>
              <a:rPr lang="en-GB" dirty="0"/>
              <a:t>Deadlock with Bookmark / Key Lookup</a:t>
            </a:r>
          </a:p>
          <a:p>
            <a:pPr lvl="1"/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Deadlocks with “Serializable Transaction Isolation Level”  (BONUS)</a:t>
            </a:r>
          </a:p>
        </p:txBody>
      </p:sp>
    </p:spTree>
    <p:extLst>
      <p:ext uri="{BB962C8B-B14F-4D97-AF65-F5344CB8AC3E}">
        <p14:creationId xmlns:p14="http://schemas.microsoft.com/office/powerpoint/2010/main" val="4195874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8F939-F04F-D046-762B-D7E2721EE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C0C33245-5577-F3C9-2635-245D40AC5B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Lock Types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98A8B687-D742-D86C-95AF-69F43C1FFF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tabLst>
                <a:tab pos="2393891" algn="l"/>
              </a:tabLst>
            </a:pPr>
            <a:r>
              <a:rPr lang="en-US" dirty="0"/>
              <a:t>controlling the management of </a:t>
            </a:r>
            <a:r>
              <a:rPr lang="en-US" b="1" dirty="0"/>
              <a:t>concurrency</a:t>
            </a:r>
          </a:p>
        </p:txBody>
      </p:sp>
    </p:spTree>
    <p:extLst>
      <p:ext uri="{BB962C8B-B14F-4D97-AF65-F5344CB8AC3E}">
        <p14:creationId xmlns:p14="http://schemas.microsoft.com/office/powerpoint/2010/main" val="418670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406918-FCAB-1372-4923-90999B455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Lock Types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4CC8899C-52EE-A8F5-6A63-E2DB55FED7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3392391"/>
              </p:ext>
            </p:extLst>
          </p:nvPr>
        </p:nvGraphicFramePr>
        <p:xfrm>
          <a:off x="334963" y="1665288"/>
          <a:ext cx="11522073" cy="397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7884">
                  <a:extLst>
                    <a:ext uri="{9D8B030D-6E8A-4147-A177-3AD203B41FA5}">
                      <a16:colId xmlns:a16="http://schemas.microsoft.com/office/drawing/2014/main" val="2980139176"/>
                    </a:ext>
                  </a:extLst>
                </a:gridCol>
                <a:gridCol w="1538714">
                  <a:extLst>
                    <a:ext uri="{9D8B030D-6E8A-4147-A177-3AD203B41FA5}">
                      <a16:colId xmlns:a16="http://schemas.microsoft.com/office/drawing/2014/main" val="3150265552"/>
                    </a:ext>
                  </a:extLst>
                </a:gridCol>
                <a:gridCol w="8035475">
                  <a:extLst>
                    <a:ext uri="{9D8B030D-6E8A-4147-A177-3AD203B41FA5}">
                      <a16:colId xmlns:a16="http://schemas.microsoft.com/office/drawing/2014/main" val="4149715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Lock Intension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Lock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949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Exclusive 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lock type, when imposed, will ensure that a page or row will be reserved </a:t>
                      </a:r>
                      <a:r>
                        <a:rPr lang="en-US" sz="1400" b="0" i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exclusively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for the transaction that imposed the exclusive lock, as long as the transaction holds the lock.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8807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Shared 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lock type, when imposed, will reserve a page or row to be available only for reading, which means that any other transaction will be prevented to modify the locked record as long as the lock is active.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825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Update 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lock is similar to an exclusive lock but is designed to be more flexible in a way. An update lock can be imposed on a record that already has a shared lock. In such a case, the update lock will impose another shared lock on the target row.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078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Intent 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I</a:t>
                      </a:r>
                      <a:r>
                        <a:rPr lang="en-US" sz="1400" dirty="0"/>
                        <a:t> (X/S/U)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this lock is a means used by a transaction to inform another transaction about its </a:t>
                      </a:r>
                      <a:r>
                        <a:rPr lang="en-US" sz="14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intention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to acquire a lock. 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0849477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r>
                        <a:rPr lang="en-US" sz="1400" b="1" noProof="0" dirty="0"/>
                        <a:t>Conversion</a:t>
                      </a:r>
                      <a:r>
                        <a:rPr lang="en-US" sz="1400" b="1" dirty="0"/>
                        <a:t> Locks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663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Shared with Intent exclusive/update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SI</a:t>
                      </a:r>
                      <a:r>
                        <a:rPr lang="en-US" sz="1400" dirty="0"/>
                        <a:t>(X/U)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 acquired, this lock indicates that the transaction intends to read all resources at a lower hierarchy and thus acquire the shared lock on all resources that are lower in hierarchy, and in turn, to modify part of those, but not all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3316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0043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9404A9-E76A-F33E-3297-5217BC2A2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Lock Status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F7E3314F-D30D-3B5C-9D39-3008654B8A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1883732"/>
              </p:ext>
            </p:extLst>
          </p:nvPr>
        </p:nvGraphicFramePr>
        <p:xfrm>
          <a:off x="393487" y="1951085"/>
          <a:ext cx="11449823" cy="3601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5689">
                  <a:extLst>
                    <a:ext uri="{9D8B030D-6E8A-4147-A177-3AD203B41FA5}">
                      <a16:colId xmlns:a16="http://schemas.microsoft.com/office/drawing/2014/main" val="2895370837"/>
                    </a:ext>
                  </a:extLst>
                </a:gridCol>
                <a:gridCol w="1635689">
                  <a:extLst>
                    <a:ext uri="{9D8B030D-6E8A-4147-A177-3AD203B41FA5}">
                      <a16:colId xmlns:a16="http://schemas.microsoft.com/office/drawing/2014/main" val="893720033"/>
                    </a:ext>
                  </a:extLst>
                </a:gridCol>
                <a:gridCol w="1635689">
                  <a:extLst>
                    <a:ext uri="{9D8B030D-6E8A-4147-A177-3AD203B41FA5}">
                      <a16:colId xmlns:a16="http://schemas.microsoft.com/office/drawing/2014/main" val="4064240559"/>
                    </a:ext>
                  </a:extLst>
                </a:gridCol>
                <a:gridCol w="1635689">
                  <a:extLst>
                    <a:ext uri="{9D8B030D-6E8A-4147-A177-3AD203B41FA5}">
                      <a16:colId xmlns:a16="http://schemas.microsoft.com/office/drawing/2014/main" val="1325247522"/>
                    </a:ext>
                  </a:extLst>
                </a:gridCol>
                <a:gridCol w="1635689">
                  <a:extLst>
                    <a:ext uri="{9D8B030D-6E8A-4147-A177-3AD203B41FA5}">
                      <a16:colId xmlns:a16="http://schemas.microsoft.com/office/drawing/2014/main" val="2560272441"/>
                    </a:ext>
                  </a:extLst>
                </a:gridCol>
                <a:gridCol w="1635689">
                  <a:extLst>
                    <a:ext uri="{9D8B030D-6E8A-4147-A177-3AD203B41FA5}">
                      <a16:colId xmlns:a16="http://schemas.microsoft.com/office/drawing/2014/main" val="1524949142"/>
                    </a:ext>
                  </a:extLst>
                </a:gridCol>
                <a:gridCol w="1635689">
                  <a:extLst>
                    <a:ext uri="{9D8B030D-6E8A-4147-A177-3AD203B41FA5}">
                      <a16:colId xmlns:a16="http://schemas.microsoft.com/office/drawing/2014/main" val="1726701743"/>
                    </a:ext>
                  </a:extLst>
                </a:gridCol>
              </a:tblGrid>
              <a:tr h="450144">
                <a:tc>
                  <a:txBody>
                    <a:bodyPr/>
                    <a:lstStyle/>
                    <a:p>
                      <a:pPr algn="ctr"/>
                      <a:endParaRPr lang="en-US" sz="1400" noProof="0" dirty="0">
                        <a:latin typeface="+mn-lt"/>
                      </a:endParaRPr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latin typeface="+mn-lt"/>
                        </a:rPr>
                        <a:t>Hold Lock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129860"/>
                  </a:ext>
                </a:extLst>
              </a:tr>
              <a:tr h="450144"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Request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IS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U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IX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SIX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707320"/>
                  </a:ext>
                </a:extLst>
              </a:tr>
              <a:tr h="450144"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IS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rgbClr val="00B050"/>
                          </a:solidFill>
                          <a:latin typeface="+mn-lt"/>
                        </a:rPr>
                        <a:t>✓</a:t>
                      </a:r>
                      <a:endParaRPr lang="en-US" sz="14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US" sz="14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US" sz="14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US" sz="1400" noProof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US" sz="14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en-US" sz="1400" noProof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301025"/>
                  </a:ext>
                </a:extLst>
              </a:tr>
              <a:tr h="450144"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S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✓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✓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✓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en-US" sz="1400" noProof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156401"/>
                  </a:ext>
                </a:extLst>
              </a:tr>
              <a:tr h="450144"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U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✓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✓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734086"/>
                  </a:ext>
                </a:extLst>
              </a:tr>
              <a:tr h="450144"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IX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✓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013058"/>
                  </a:ext>
                </a:extLst>
              </a:tr>
              <a:tr h="450144"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SIX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✓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011490"/>
                  </a:ext>
                </a:extLst>
              </a:tr>
              <a:tr h="450144"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X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832669"/>
                  </a:ext>
                </a:extLst>
              </a:tr>
            </a:tbl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0F464D27-6B3F-686F-7ECB-8EC444B8710A}"/>
              </a:ext>
            </a:extLst>
          </p:cNvPr>
          <p:cNvSpPr txBox="1"/>
          <p:nvPr/>
        </p:nvSpPr>
        <p:spPr>
          <a:xfrm>
            <a:off x="334962" y="5657671"/>
            <a:ext cx="1150834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noProof="0" dirty="0">
                <a:hlinkClick r:id="rId2"/>
              </a:rPr>
              <a:t>https://learn.microsoft.com/en-us/sql/relational-databases/media/sql-server-transaction-locking-and-row-versioning-guide/sql-server-lock-conflict-compatibility.png</a:t>
            </a:r>
            <a:endParaRPr lang="en-US" sz="1000" noProof="0" dirty="0"/>
          </a:p>
        </p:txBody>
      </p:sp>
    </p:spTree>
    <p:extLst>
      <p:ext uri="{BB962C8B-B14F-4D97-AF65-F5344CB8AC3E}">
        <p14:creationId xmlns:p14="http://schemas.microsoft.com/office/powerpoint/2010/main" val="694014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55BDDA-B805-8BCE-1070-B32C10B00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Locking Hierarchy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60C45819-93D3-FE6E-080E-50F2A080A1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1554126"/>
              </p:ext>
            </p:extLst>
          </p:nvPr>
        </p:nvGraphicFramePr>
        <p:xfrm>
          <a:off x="334963" y="1665288"/>
          <a:ext cx="11522074" cy="243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2954">
                  <a:extLst>
                    <a:ext uri="{9D8B030D-6E8A-4147-A177-3AD203B41FA5}">
                      <a16:colId xmlns:a16="http://schemas.microsoft.com/office/drawing/2014/main" val="4193262162"/>
                    </a:ext>
                  </a:extLst>
                </a:gridCol>
                <a:gridCol w="1175555">
                  <a:extLst>
                    <a:ext uri="{9D8B030D-6E8A-4147-A177-3AD203B41FA5}">
                      <a16:colId xmlns:a16="http://schemas.microsoft.com/office/drawing/2014/main" val="1800965133"/>
                    </a:ext>
                  </a:extLst>
                </a:gridCol>
                <a:gridCol w="2626157">
                  <a:extLst>
                    <a:ext uri="{9D8B030D-6E8A-4147-A177-3AD203B41FA5}">
                      <a16:colId xmlns:a16="http://schemas.microsoft.com/office/drawing/2014/main" val="1060759863"/>
                    </a:ext>
                  </a:extLst>
                </a:gridCol>
                <a:gridCol w="775411">
                  <a:extLst>
                    <a:ext uri="{9D8B030D-6E8A-4147-A177-3AD203B41FA5}">
                      <a16:colId xmlns:a16="http://schemas.microsoft.com/office/drawing/2014/main" val="155187064"/>
                    </a:ext>
                  </a:extLst>
                </a:gridCol>
                <a:gridCol w="5821997">
                  <a:extLst>
                    <a:ext uri="{9D8B030D-6E8A-4147-A177-3AD203B41FA5}">
                      <a16:colId xmlns:a16="http://schemas.microsoft.com/office/drawing/2014/main" val="8604083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Read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Write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771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6"/>
                          </a:solidFill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315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6"/>
                          </a:solidFill>
                        </a:rPr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or X with LOCK ESCALATION</a:t>
                      </a:r>
                      <a:r>
                        <a:rPr lang="en-US" sz="1600" b="1" dirty="0"/>
                        <a:t>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389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Partition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6"/>
                          </a:solidFill>
                        </a:rPr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if LOCK_ESCALATION = AUTO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91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6"/>
                          </a:solidFill>
                        </a:rPr>
                        <a:t>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or S if the table is a HEAP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8214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dirty="0"/>
                        <a:t>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6"/>
                          </a:solidFill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653538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9C46A2AB-6990-B8E7-5B41-D1A664FB5039}"/>
              </a:ext>
            </a:extLst>
          </p:cNvPr>
          <p:cNvSpPr txBox="1"/>
          <p:nvPr/>
        </p:nvSpPr>
        <p:spPr>
          <a:xfrm>
            <a:off x="334963" y="4308653"/>
            <a:ext cx="11522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/>
            <a:r>
              <a:rPr lang="en-US" b="1" dirty="0"/>
              <a:t>*</a:t>
            </a:r>
            <a:r>
              <a:rPr lang="en-US" dirty="0"/>
              <a:t>	Lock escalation in SQL Server is the process of converting many fine-grained locks (like row or page locks) into fewer coarse-grained locks (like table locks) to reduce system overhead.</a:t>
            </a:r>
          </a:p>
        </p:txBody>
      </p:sp>
    </p:spTree>
    <p:extLst>
      <p:ext uri="{BB962C8B-B14F-4D97-AF65-F5344CB8AC3E}">
        <p14:creationId xmlns:p14="http://schemas.microsoft.com/office/powerpoint/2010/main" val="927822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6B98D-76BD-EAF6-7E46-D2B369C1D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7DACC03-174B-F348-4FF0-CF8D4A99E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en-US" sz="16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 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dbo.customers</a:t>
            </a:r>
          </a:p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SET    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c_name 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'Uwe Ricken’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WHERE  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c_custkey 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</a:t>
            </a:r>
            <a:endParaRPr lang="en-US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310403C-EE6E-1739-5879-48BABF7AA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el 9">
            <a:extLst>
              <a:ext uri="{FF2B5EF4-FFF2-40B4-BE49-F238E27FC236}">
                <a16:creationId xmlns:a16="http://schemas.microsoft.com/office/drawing/2014/main" id="{01CEFF14-F699-362B-9174-501AC1FCF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Locking Hierarchy</a:t>
            </a:r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774E2B07-040C-CDF1-4DEF-4C40F0123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657268"/>
              </p:ext>
            </p:extLst>
          </p:nvPr>
        </p:nvGraphicFramePr>
        <p:xfrm>
          <a:off x="1814944" y="1564246"/>
          <a:ext cx="2817218" cy="77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423">
                  <a:extLst>
                    <a:ext uri="{9D8B030D-6E8A-4147-A177-3AD203B41FA5}">
                      <a16:colId xmlns:a16="http://schemas.microsoft.com/office/drawing/2014/main" val="2872294666"/>
                    </a:ext>
                  </a:extLst>
                </a:gridCol>
                <a:gridCol w="616267">
                  <a:extLst>
                    <a:ext uri="{9D8B030D-6E8A-4147-A177-3AD203B41FA5}">
                      <a16:colId xmlns:a16="http://schemas.microsoft.com/office/drawing/2014/main" val="2542042051"/>
                    </a:ext>
                  </a:extLst>
                </a:gridCol>
                <a:gridCol w="689264">
                  <a:extLst>
                    <a:ext uri="{9D8B030D-6E8A-4147-A177-3AD203B41FA5}">
                      <a16:colId xmlns:a16="http://schemas.microsoft.com/office/drawing/2014/main" val="1071245696"/>
                    </a:ext>
                  </a:extLst>
                </a:gridCol>
                <a:gridCol w="689264">
                  <a:extLst>
                    <a:ext uri="{9D8B030D-6E8A-4147-A177-3AD203B41FA5}">
                      <a16:colId xmlns:a16="http://schemas.microsoft.com/office/drawing/2014/main" val="3540005839"/>
                    </a:ext>
                  </a:extLst>
                </a:gridCol>
              </a:tblGrid>
              <a:tr h="23412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HEAP / (non)clustered Index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101897"/>
                  </a:ext>
                </a:extLst>
              </a:tr>
              <a:tr h="23412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c_custkey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c_name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9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7130636"/>
                  </a:ext>
                </a:extLst>
              </a:tr>
              <a:tr h="23412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9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71036"/>
                  </a:ext>
                </a:extLst>
              </a:tr>
            </a:tbl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F8EB0B7E-472A-1EBC-DC1D-5F2EE0BBEBFA}"/>
              </a:ext>
            </a:extLst>
          </p:cNvPr>
          <p:cNvSpPr txBox="1"/>
          <p:nvPr/>
        </p:nvSpPr>
        <p:spPr>
          <a:xfrm>
            <a:off x="2192480" y="3124111"/>
            <a:ext cx="2001982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Partition 1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B2CF737-2FF1-BD87-1010-360C9F2DF6BC}"/>
              </a:ext>
            </a:extLst>
          </p:cNvPr>
          <p:cNvSpPr txBox="1"/>
          <p:nvPr/>
        </p:nvSpPr>
        <p:spPr>
          <a:xfrm>
            <a:off x="2198829" y="3958016"/>
            <a:ext cx="2001982" cy="19887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>
              <a:tabLst>
                <a:tab pos="360363" algn="l"/>
              </a:tabLst>
            </a:pPr>
            <a:r>
              <a:rPr lang="en-US" sz="1000" dirty="0"/>
              <a:t>1	row</a:t>
            </a:r>
          </a:p>
          <a:p>
            <a:pPr>
              <a:tabLst>
                <a:tab pos="360363" algn="l"/>
              </a:tabLst>
            </a:pPr>
            <a:r>
              <a:rPr lang="en-US" sz="1000" dirty="0"/>
              <a:t>2	row</a:t>
            </a:r>
          </a:p>
          <a:p>
            <a:pPr>
              <a:tabLst>
                <a:tab pos="360363" algn="l"/>
              </a:tabLst>
            </a:pPr>
            <a:r>
              <a:rPr lang="en-US" sz="1000" dirty="0"/>
              <a:t>3	row</a:t>
            </a:r>
          </a:p>
          <a:p>
            <a:pPr>
              <a:tabLst>
                <a:tab pos="360363" algn="l"/>
              </a:tabLst>
            </a:pPr>
            <a:r>
              <a:rPr lang="en-US" sz="1000" dirty="0"/>
              <a:t>-	row</a:t>
            </a:r>
          </a:p>
          <a:p>
            <a:pPr>
              <a:tabLst>
                <a:tab pos="360363" algn="l"/>
              </a:tabLst>
            </a:pPr>
            <a:r>
              <a:rPr lang="en-US" sz="1000" dirty="0"/>
              <a:t>-	row</a:t>
            </a:r>
          </a:p>
          <a:p>
            <a:pPr>
              <a:tabLst>
                <a:tab pos="360363" algn="l"/>
              </a:tabLst>
            </a:pPr>
            <a:r>
              <a:rPr lang="en-US" sz="1000" dirty="0"/>
              <a:t>-	row</a:t>
            </a:r>
          </a:p>
          <a:p>
            <a:pPr>
              <a:tabLst>
                <a:tab pos="360363" algn="l"/>
              </a:tabLst>
            </a:pPr>
            <a:r>
              <a:rPr lang="en-US" sz="1000" b="1" dirty="0"/>
              <a:t>10	row</a:t>
            </a:r>
          </a:p>
          <a:p>
            <a:pPr>
              <a:tabLst>
                <a:tab pos="360363" algn="l"/>
              </a:tabLst>
            </a:pPr>
            <a:r>
              <a:rPr lang="en-US" sz="1000" dirty="0"/>
              <a:t>-	row</a:t>
            </a:r>
          </a:p>
          <a:p>
            <a:pPr>
              <a:tabLst>
                <a:tab pos="360363" algn="l"/>
              </a:tabLst>
            </a:pPr>
            <a:r>
              <a:rPr lang="en-US" sz="1000" dirty="0"/>
              <a:t>-	row</a:t>
            </a:r>
          </a:p>
          <a:p>
            <a:pPr marL="285750" indent="-285750">
              <a:buFontTx/>
              <a:buChar char="-"/>
              <a:tabLst>
                <a:tab pos="360363" algn="l"/>
              </a:tabLst>
            </a:pPr>
            <a:endParaRPr lang="en-US" sz="1000" dirty="0"/>
          </a:p>
          <a:p>
            <a:pPr marL="285750" indent="-285750">
              <a:buFontTx/>
              <a:buChar char="-"/>
              <a:tabLst>
                <a:tab pos="360363" algn="l"/>
              </a:tabLst>
            </a:pPr>
            <a:endParaRPr lang="en-US" sz="1000" dirty="0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73B32212-A667-1AEB-6132-B64C50D0E9C2}"/>
              </a:ext>
            </a:extLst>
          </p:cNvPr>
          <p:cNvSpPr txBox="1"/>
          <p:nvPr/>
        </p:nvSpPr>
        <p:spPr>
          <a:xfrm>
            <a:off x="2198829" y="3651956"/>
            <a:ext cx="2001982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360363" algn="l"/>
              </a:tabLst>
            </a:pPr>
            <a:r>
              <a:rPr lang="en-US" sz="1400" b="1" dirty="0"/>
              <a:t>	PAGE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FDB68232-60E5-384D-6C49-59290D49EB07}"/>
              </a:ext>
            </a:extLst>
          </p:cNvPr>
          <p:cNvSpPr txBox="1"/>
          <p:nvPr/>
        </p:nvSpPr>
        <p:spPr>
          <a:xfrm>
            <a:off x="4006607" y="1893322"/>
            <a:ext cx="481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IX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DFEE748-6D1A-EA8A-53A2-9EFF5CA57DA7}"/>
              </a:ext>
            </a:extLst>
          </p:cNvPr>
          <p:cNvSpPr txBox="1"/>
          <p:nvPr/>
        </p:nvSpPr>
        <p:spPr>
          <a:xfrm>
            <a:off x="2192480" y="3651956"/>
            <a:ext cx="463697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IX</a:t>
            </a:r>
          </a:p>
        </p:txBody>
      </p:sp>
      <p:cxnSp>
        <p:nvCxnSpPr>
          <p:cNvPr id="10" name="Verbinder: gewinkelt 9">
            <a:extLst>
              <a:ext uri="{FF2B5EF4-FFF2-40B4-BE49-F238E27FC236}">
                <a16:creationId xmlns:a16="http://schemas.microsoft.com/office/drawing/2014/main" id="{3082B1B7-25FA-8A4C-856E-F8E7B8CB861F}"/>
              </a:ext>
            </a:extLst>
          </p:cNvPr>
          <p:cNvCxnSpPr>
            <a:cxnSpLocks/>
            <a:stCxn id="2" idx="1"/>
            <a:endCxn id="7" idx="1"/>
          </p:cNvCxnSpPr>
          <p:nvPr/>
        </p:nvCxnSpPr>
        <p:spPr>
          <a:xfrm rot="10800000" flipH="1" flipV="1">
            <a:off x="1814944" y="1950765"/>
            <a:ext cx="377536" cy="1855079"/>
          </a:xfrm>
          <a:prstGeom prst="bentConnector3">
            <a:avLst>
              <a:gd name="adj1" fmla="val -60551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C5F057BD-2902-76C8-9E72-9439827A2869}"/>
              </a:ext>
            </a:extLst>
          </p:cNvPr>
          <p:cNvSpPr txBox="1"/>
          <p:nvPr/>
        </p:nvSpPr>
        <p:spPr>
          <a:xfrm>
            <a:off x="2200632" y="4941887"/>
            <a:ext cx="248881" cy="1966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txBody>
          <a:bodyPr wrap="square" rtlCol="0">
            <a:noAutofit/>
          </a:bodyPr>
          <a:lstStyle>
            <a:defPPr>
              <a:defRPr lang="de-DE"/>
            </a:defPPr>
            <a:lvl1pPr>
              <a:tabLst>
                <a:tab pos="360363" algn="l"/>
              </a:tabLst>
              <a:defRPr sz="1400" b="1"/>
            </a:lvl1pPr>
          </a:lstStyle>
          <a:p>
            <a:r>
              <a:rPr lang="en-US" sz="1000" dirty="0">
                <a:solidFill>
                  <a:srgbClr val="FF0000"/>
                </a:solidFill>
              </a:rPr>
              <a:t>U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92F61B68-6C2C-D624-1658-654967C6CB05}"/>
              </a:ext>
            </a:extLst>
          </p:cNvPr>
          <p:cNvSpPr txBox="1"/>
          <p:nvPr/>
        </p:nvSpPr>
        <p:spPr>
          <a:xfrm>
            <a:off x="2200632" y="4930774"/>
            <a:ext cx="248881" cy="2295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</p:spPr>
        <p:txBody>
          <a:bodyPr wrap="square" rtlCol="0">
            <a:noAutofit/>
          </a:bodyPr>
          <a:lstStyle>
            <a:defPPr>
              <a:defRPr lang="de-DE"/>
            </a:defPPr>
            <a:lvl1pPr>
              <a:tabLst>
                <a:tab pos="360363" algn="l"/>
              </a:tabLst>
              <a:defRPr sz="1400" b="1"/>
            </a:lvl1pPr>
          </a:lstStyle>
          <a:p>
            <a:pPr algn="ctr"/>
            <a:r>
              <a:rPr lang="en-US" sz="1000" dirty="0">
                <a:solidFill>
                  <a:srgbClr val="FF0000"/>
                </a:solidFill>
              </a:rPr>
              <a:t>X</a:t>
            </a:r>
          </a:p>
        </p:txBody>
      </p:sp>
      <p:cxnSp>
        <p:nvCxnSpPr>
          <p:cNvPr id="26" name="Verbinder: gewinkelt 25">
            <a:extLst>
              <a:ext uri="{FF2B5EF4-FFF2-40B4-BE49-F238E27FC236}">
                <a16:creationId xmlns:a16="http://schemas.microsoft.com/office/drawing/2014/main" id="{978D07DA-F82B-A04C-8155-2E1D33688617}"/>
              </a:ext>
            </a:extLst>
          </p:cNvPr>
          <p:cNvCxnSpPr>
            <a:cxnSpLocks/>
            <a:stCxn id="7" idx="1"/>
            <a:endCxn id="19" idx="1"/>
          </p:cNvCxnSpPr>
          <p:nvPr/>
        </p:nvCxnSpPr>
        <p:spPr>
          <a:xfrm rot="10800000" flipH="1" flipV="1">
            <a:off x="2192480" y="3805844"/>
            <a:ext cx="8152" cy="1234345"/>
          </a:xfrm>
          <a:prstGeom prst="bentConnector3">
            <a:avLst>
              <a:gd name="adj1" fmla="val -2804220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2348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3" grpId="0" animBg="1"/>
      <p:bldP spid="9" grpId="0" animBg="1"/>
      <p:bldP spid="28" grpId="0" animBg="1"/>
      <p:bldP spid="37" grpId="0"/>
      <p:bldP spid="7" grpId="0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20B9B-6DAD-3ED5-1631-BD70AC9DA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21ECE7E1-7F6B-944B-1C44-5B8D352D6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en-US" sz="16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 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customers</a:t>
            </a:r>
          </a:p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SET    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c_name 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'Uwe Ricken’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WHERE  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c_custkey &lt;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50000</a:t>
            </a:r>
            <a:endParaRPr lang="en-US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D8AAAFD4-786F-ACB5-6862-87777F78699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el 9">
            <a:extLst>
              <a:ext uri="{FF2B5EF4-FFF2-40B4-BE49-F238E27FC236}">
                <a16:creationId xmlns:a16="http://schemas.microsoft.com/office/drawing/2014/main" id="{958C59DB-3926-9DEA-71F8-0022F7D71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 Escalation</a:t>
            </a:r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15FCBFAD-7406-E4A7-EE40-E33816022536}"/>
              </a:ext>
            </a:extLst>
          </p:cNvPr>
          <p:cNvGraphicFramePr>
            <a:graphicFrameLocks noGrp="1"/>
          </p:cNvGraphicFramePr>
          <p:nvPr/>
        </p:nvGraphicFramePr>
        <p:xfrm>
          <a:off x="1814944" y="1564246"/>
          <a:ext cx="2817218" cy="77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423">
                  <a:extLst>
                    <a:ext uri="{9D8B030D-6E8A-4147-A177-3AD203B41FA5}">
                      <a16:colId xmlns:a16="http://schemas.microsoft.com/office/drawing/2014/main" val="2872294666"/>
                    </a:ext>
                  </a:extLst>
                </a:gridCol>
                <a:gridCol w="616267">
                  <a:extLst>
                    <a:ext uri="{9D8B030D-6E8A-4147-A177-3AD203B41FA5}">
                      <a16:colId xmlns:a16="http://schemas.microsoft.com/office/drawing/2014/main" val="2542042051"/>
                    </a:ext>
                  </a:extLst>
                </a:gridCol>
                <a:gridCol w="689264">
                  <a:extLst>
                    <a:ext uri="{9D8B030D-6E8A-4147-A177-3AD203B41FA5}">
                      <a16:colId xmlns:a16="http://schemas.microsoft.com/office/drawing/2014/main" val="1071245696"/>
                    </a:ext>
                  </a:extLst>
                </a:gridCol>
                <a:gridCol w="689264">
                  <a:extLst>
                    <a:ext uri="{9D8B030D-6E8A-4147-A177-3AD203B41FA5}">
                      <a16:colId xmlns:a16="http://schemas.microsoft.com/office/drawing/2014/main" val="3540005839"/>
                    </a:ext>
                  </a:extLst>
                </a:gridCol>
              </a:tblGrid>
              <a:tr h="23412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HEAP / (non)clustered Index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101897"/>
                  </a:ext>
                </a:extLst>
              </a:tr>
              <a:tr h="23412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c_custkey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c_name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9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7130636"/>
                  </a:ext>
                </a:extLst>
              </a:tr>
              <a:tr h="23412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9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71036"/>
                  </a:ext>
                </a:extLst>
              </a:tr>
            </a:tbl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116CAEAF-4B46-4BC5-48C9-96E9A23679E8}"/>
              </a:ext>
            </a:extLst>
          </p:cNvPr>
          <p:cNvSpPr txBox="1"/>
          <p:nvPr/>
        </p:nvSpPr>
        <p:spPr>
          <a:xfrm>
            <a:off x="2192480" y="3124111"/>
            <a:ext cx="2001982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Partition 1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31C7FB9-CA37-0D24-5488-3FF266369146}"/>
              </a:ext>
            </a:extLst>
          </p:cNvPr>
          <p:cNvSpPr txBox="1"/>
          <p:nvPr/>
        </p:nvSpPr>
        <p:spPr>
          <a:xfrm>
            <a:off x="2198828" y="3947074"/>
            <a:ext cx="1995634" cy="19887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>
              <a:tabLst>
                <a:tab pos="360363" algn="l"/>
              </a:tabLst>
            </a:pPr>
            <a:r>
              <a:rPr lang="en-US" sz="1000" b="1" dirty="0">
                <a:solidFill>
                  <a:srgbClr val="FF0000"/>
                </a:solidFill>
              </a:rPr>
              <a:t>X</a:t>
            </a:r>
            <a:r>
              <a:rPr lang="en-US" sz="1000" dirty="0"/>
              <a:t>	row</a:t>
            </a:r>
          </a:p>
          <a:p>
            <a:pPr>
              <a:tabLst>
                <a:tab pos="360363" algn="l"/>
              </a:tabLst>
            </a:pPr>
            <a:r>
              <a:rPr lang="en-US" sz="1000" b="1" dirty="0">
                <a:solidFill>
                  <a:srgbClr val="FF0000"/>
                </a:solidFill>
              </a:rPr>
              <a:t>X </a:t>
            </a:r>
            <a:r>
              <a:rPr lang="en-US" sz="1000" dirty="0"/>
              <a:t>	row</a:t>
            </a:r>
          </a:p>
          <a:p>
            <a:pPr>
              <a:tabLst>
                <a:tab pos="360363" algn="l"/>
              </a:tabLst>
            </a:pPr>
            <a:r>
              <a:rPr lang="en-US" sz="1000" b="1" dirty="0">
                <a:solidFill>
                  <a:srgbClr val="FF0000"/>
                </a:solidFill>
              </a:rPr>
              <a:t>X </a:t>
            </a:r>
            <a:r>
              <a:rPr lang="en-US" sz="1000" dirty="0"/>
              <a:t>	row</a:t>
            </a:r>
          </a:p>
          <a:p>
            <a:pPr>
              <a:tabLst>
                <a:tab pos="360363" algn="l"/>
              </a:tabLst>
            </a:pPr>
            <a:r>
              <a:rPr lang="en-US" sz="1000" b="1" dirty="0">
                <a:solidFill>
                  <a:srgbClr val="FF0000"/>
                </a:solidFill>
              </a:rPr>
              <a:t>X </a:t>
            </a:r>
            <a:r>
              <a:rPr lang="en-US" sz="1000" dirty="0"/>
              <a:t>	row</a:t>
            </a:r>
          </a:p>
          <a:p>
            <a:pPr>
              <a:tabLst>
                <a:tab pos="360363" algn="l"/>
              </a:tabLst>
            </a:pPr>
            <a:r>
              <a:rPr lang="en-US" sz="1000" b="1" dirty="0">
                <a:solidFill>
                  <a:srgbClr val="FF0000"/>
                </a:solidFill>
              </a:rPr>
              <a:t>X </a:t>
            </a:r>
            <a:r>
              <a:rPr lang="en-US" sz="1000" dirty="0"/>
              <a:t>	row</a:t>
            </a:r>
          </a:p>
          <a:p>
            <a:pPr>
              <a:tabLst>
                <a:tab pos="360363" algn="l"/>
              </a:tabLst>
            </a:pPr>
            <a:r>
              <a:rPr lang="en-US" sz="1000" b="1" dirty="0">
                <a:solidFill>
                  <a:srgbClr val="FF0000"/>
                </a:solidFill>
              </a:rPr>
              <a:t>X </a:t>
            </a:r>
            <a:r>
              <a:rPr lang="en-US" sz="1000" dirty="0"/>
              <a:t>	row</a:t>
            </a:r>
          </a:p>
          <a:p>
            <a:pPr>
              <a:tabLst>
                <a:tab pos="360363" algn="l"/>
              </a:tabLst>
            </a:pPr>
            <a:r>
              <a:rPr lang="en-US" sz="1000" b="1" dirty="0">
                <a:solidFill>
                  <a:srgbClr val="FF0000"/>
                </a:solidFill>
              </a:rPr>
              <a:t>X </a:t>
            </a:r>
            <a:r>
              <a:rPr lang="en-US" sz="1000" b="1" dirty="0"/>
              <a:t>	</a:t>
            </a:r>
            <a:r>
              <a:rPr lang="en-US" sz="1000" dirty="0"/>
              <a:t>row</a:t>
            </a:r>
          </a:p>
          <a:p>
            <a:pPr>
              <a:tabLst>
                <a:tab pos="360363" algn="l"/>
              </a:tabLst>
            </a:pPr>
            <a:r>
              <a:rPr lang="en-US" sz="1000" dirty="0"/>
              <a:t>11	row</a:t>
            </a:r>
          </a:p>
          <a:p>
            <a:pPr>
              <a:tabLst>
                <a:tab pos="360363" algn="l"/>
              </a:tabLst>
            </a:pPr>
            <a:r>
              <a:rPr lang="en-US" sz="1000" dirty="0"/>
              <a:t>-	row</a:t>
            </a:r>
          </a:p>
          <a:p>
            <a:pPr marL="285750" indent="-285750">
              <a:buFontTx/>
              <a:buChar char="-"/>
              <a:tabLst>
                <a:tab pos="360363" algn="l"/>
              </a:tabLst>
            </a:pPr>
            <a:endParaRPr lang="en-US" sz="1000" dirty="0"/>
          </a:p>
          <a:p>
            <a:pPr marL="285750" indent="-285750">
              <a:buFontTx/>
              <a:buChar char="-"/>
              <a:tabLst>
                <a:tab pos="360363" algn="l"/>
              </a:tabLst>
            </a:pPr>
            <a:endParaRPr lang="en-US" sz="1000" dirty="0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AA0742B5-88C0-44EB-01BD-8D1604762C7E}"/>
              </a:ext>
            </a:extLst>
          </p:cNvPr>
          <p:cNvSpPr txBox="1"/>
          <p:nvPr/>
        </p:nvSpPr>
        <p:spPr>
          <a:xfrm>
            <a:off x="4006607" y="1893322"/>
            <a:ext cx="481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IX</a:t>
            </a:r>
          </a:p>
        </p:txBody>
      </p:sp>
      <p:cxnSp>
        <p:nvCxnSpPr>
          <p:cNvPr id="10" name="Verbinder: gewinkelt 9">
            <a:extLst>
              <a:ext uri="{FF2B5EF4-FFF2-40B4-BE49-F238E27FC236}">
                <a16:creationId xmlns:a16="http://schemas.microsoft.com/office/drawing/2014/main" id="{D617C04A-8713-7838-8118-145C855E3727}"/>
              </a:ext>
            </a:extLst>
          </p:cNvPr>
          <p:cNvCxnSpPr>
            <a:cxnSpLocks/>
            <a:stCxn id="2" idx="1"/>
            <a:endCxn id="7" idx="1"/>
          </p:cNvCxnSpPr>
          <p:nvPr/>
        </p:nvCxnSpPr>
        <p:spPr>
          <a:xfrm rot="10800000" flipH="1" flipV="1">
            <a:off x="1814944" y="1950765"/>
            <a:ext cx="377536" cy="1855079"/>
          </a:xfrm>
          <a:prstGeom prst="bentConnector3">
            <a:avLst>
              <a:gd name="adj1" fmla="val -60551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Verbinder: gewinkelt 25">
            <a:extLst>
              <a:ext uri="{FF2B5EF4-FFF2-40B4-BE49-F238E27FC236}">
                <a16:creationId xmlns:a16="http://schemas.microsoft.com/office/drawing/2014/main" id="{344F7BA0-7AB0-1994-7D0C-CBA681C10D50}"/>
              </a:ext>
            </a:extLst>
          </p:cNvPr>
          <p:cNvCxnSpPr>
            <a:cxnSpLocks/>
            <a:stCxn id="7" idx="1"/>
            <a:endCxn id="11" idx="1"/>
          </p:cNvCxnSpPr>
          <p:nvPr/>
        </p:nvCxnSpPr>
        <p:spPr>
          <a:xfrm rot="10800000" flipH="1" flipV="1">
            <a:off x="2192480" y="3805844"/>
            <a:ext cx="6348" cy="1141921"/>
          </a:xfrm>
          <a:prstGeom prst="bentConnector3">
            <a:avLst>
              <a:gd name="adj1" fmla="val -3601134"/>
            </a:avLst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D4DBFC6A-BDE1-0057-ECA1-E181DA3258CE}"/>
              </a:ext>
            </a:extLst>
          </p:cNvPr>
          <p:cNvSpPr txBox="1"/>
          <p:nvPr/>
        </p:nvSpPr>
        <p:spPr>
          <a:xfrm>
            <a:off x="2198828" y="3959732"/>
            <a:ext cx="1995633" cy="19760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>
              <a:tabLst>
                <a:tab pos="360363" algn="l"/>
              </a:tabLst>
            </a:pPr>
            <a:r>
              <a:rPr lang="en-US" sz="1000" dirty="0"/>
              <a:t>1	row</a:t>
            </a:r>
          </a:p>
          <a:p>
            <a:pPr>
              <a:tabLst>
                <a:tab pos="360363" algn="l"/>
              </a:tabLst>
            </a:pPr>
            <a:r>
              <a:rPr lang="en-US" sz="1000" dirty="0"/>
              <a:t>2	row</a:t>
            </a:r>
          </a:p>
          <a:p>
            <a:pPr>
              <a:tabLst>
                <a:tab pos="360363" algn="l"/>
              </a:tabLst>
            </a:pPr>
            <a:r>
              <a:rPr lang="en-US" sz="1000" dirty="0"/>
              <a:t>3	row</a:t>
            </a:r>
          </a:p>
          <a:p>
            <a:pPr>
              <a:tabLst>
                <a:tab pos="360363" algn="l"/>
              </a:tabLst>
            </a:pPr>
            <a:r>
              <a:rPr lang="en-US" sz="1000" dirty="0"/>
              <a:t>-	row</a:t>
            </a:r>
          </a:p>
          <a:p>
            <a:pPr>
              <a:tabLst>
                <a:tab pos="360363" algn="l"/>
              </a:tabLst>
            </a:pPr>
            <a:r>
              <a:rPr lang="en-US" sz="1000" dirty="0"/>
              <a:t>-	row</a:t>
            </a:r>
          </a:p>
          <a:p>
            <a:pPr>
              <a:tabLst>
                <a:tab pos="360363" algn="l"/>
              </a:tabLst>
            </a:pPr>
            <a:r>
              <a:rPr lang="en-US" sz="1000" dirty="0"/>
              <a:t>-	row</a:t>
            </a:r>
          </a:p>
          <a:p>
            <a:pPr>
              <a:tabLst>
                <a:tab pos="360363" algn="l"/>
              </a:tabLst>
            </a:pPr>
            <a:r>
              <a:rPr lang="en-US" sz="1000" dirty="0"/>
              <a:t>10	row</a:t>
            </a:r>
          </a:p>
          <a:p>
            <a:pPr>
              <a:tabLst>
                <a:tab pos="360363" algn="l"/>
              </a:tabLst>
            </a:pPr>
            <a:r>
              <a:rPr lang="en-US" sz="1000" dirty="0"/>
              <a:t>-	row</a:t>
            </a:r>
          </a:p>
          <a:p>
            <a:pPr>
              <a:tabLst>
                <a:tab pos="360363" algn="l"/>
              </a:tabLst>
            </a:pPr>
            <a:r>
              <a:rPr lang="en-US" sz="1000" dirty="0"/>
              <a:t>-	row</a:t>
            </a:r>
          </a:p>
          <a:p>
            <a:pPr marL="285750" indent="-285750">
              <a:buFontTx/>
              <a:buChar char="-"/>
              <a:tabLst>
                <a:tab pos="360363" algn="l"/>
              </a:tabLst>
            </a:pPr>
            <a:endParaRPr lang="en-US" sz="1000" dirty="0"/>
          </a:p>
          <a:p>
            <a:pPr marL="285750" indent="-285750">
              <a:buFontTx/>
              <a:buChar char="-"/>
              <a:tabLst>
                <a:tab pos="360363" algn="l"/>
              </a:tabLst>
            </a:pPr>
            <a:endParaRPr lang="en-US" sz="1000" dirty="0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4ADE8A2A-59E3-DD87-4908-624EF471922D}"/>
              </a:ext>
            </a:extLst>
          </p:cNvPr>
          <p:cNvSpPr txBox="1"/>
          <p:nvPr/>
        </p:nvSpPr>
        <p:spPr>
          <a:xfrm>
            <a:off x="2198829" y="3651956"/>
            <a:ext cx="2001982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tabLst>
                <a:tab pos="360363" algn="l"/>
              </a:tabLst>
            </a:pPr>
            <a:r>
              <a:rPr lang="en-US" sz="1400" b="1" dirty="0"/>
              <a:t>	PAGE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2E5C574-5CA8-9494-E6D6-2096AA4BEA89}"/>
              </a:ext>
            </a:extLst>
          </p:cNvPr>
          <p:cNvSpPr txBox="1"/>
          <p:nvPr/>
        </p:nvSpPr>
        <p:spPr>
          <a:xfrm>
            <a:off x="2192480" y="3651956"/>
            <a:ext cx="463697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IX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CD8E3D4-1598-90EC-5D80-71466E3423EF}"/>
              </a:ext>
            </a:extLst>
          </p:cNvPr>
          <p:cNvSpPr txBox="1"/>
          <p:nvPr/>
        </p:nvSpPr>
        <p:spPr>
          <a:xfrm>
            <a:off x="5428539" y="3912596"/>
            <a:ext cx="3296652" cy="138499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/>
              <a:t>If to much granular locks occur, Microsoft SQL Server will lock the object itself but not the single rows!</a:t>
            </a:r>
          </a:p>
          <a:p>
            <a:endParaRPr lang="en-US" sz="1400" dirty="0"/>
          </a:p>
          <a:p>
            <a:r>
              <a:rPr lang="en-US" sz="1400" dirty="0"/>
              <a:t>The check for Lock Escalation happens every 1.250 rows!</a:t>
            </a:r>
          </a:p>
        </p:txBody>
      </p:sp>
      <p:sp>
        <p:nvSpPr>
          <p:cNvPr id="14" name="Geschweifte Klammer rechts 13">
            <a:extLst>
              <a:ext uri="{FF2B5EF4-FFF2-40B4-BE49-F238E27FC236}">
                <a16:creationId xmlns:a16="http://schemas.microsoft.com/office/drawing/2014/main" id="{D13E191E-CD04-5E16-75D9-38DAEF7366AC}"/>
              </a:ext>
            </a:extLst>
          </p:cNvPr>
          <p:cNvSpPr/>
          <p:nvPr/>
        </p:nvSpPr>
        <p:spPr>
          <a:xfrm>
            <a:off x="4305425" y="3597275"/>
            <a:ext cx="365682" cy="2355958"/>
          </a:xfrm>
          <a:prstGeom prst="rightBrace">
            <a:avLst>
              <a:gd name="adj1" fmla="val 8333"/>
              <a:gd name="adj2" fmla="val 49461"/>
            </a:avLst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575053EB-BE44-CAC6-0A2E-4C0C88AA7595}"/>
              </a:ext>
            </a:extLst>
          </p:cNvPr>
          <p:cNvCxnSpPr>
            <a:cxnSpLocks/>
            <a:stCxn id="14" idx="1"/>
            <a:endCxn id="13" idx="2"/>
          </p:cNvCxnSpPr>
          <p:nvPr/>
        </p:nvCxnSpPr>
        <p:spPr>
          <a:xfrm rot="10800000" flipH="1" flipV="1">
            <a:off x="4671107" y="4762555"/>
            <a:ext cx="2405758" cy="535036"/>
          </a:xfrm>
          <a:prstGeom prst="bentConnector4">
            <a:avLst>
              <a:gd name="adj1" fmla="val 11210"/>
              <a:gd name="adj2" fmla="val 209871"/>
            </a:avLst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7F87387E-33CD-984D-8A3D-CB7958E41D05}"/>
              </a:ext>
            </a:extLst>
          </p:cNvPr>
          <p:cNvCxnSpPr>
            <a:cxnSpLocks/>
            <a:stCxn id="13" idx="1"/>
            <a:endCxn id="2" idx="3"/>
          </p:cNvCxnSpPr>
          <p:nvPr/>
        </p:nvCxnSpPr>
        <p:spPr>
          <a:xfrm rot="10800000">
            <a:off x="4632163" y="1950766"/>
            <a:ext cx="796377" cy="2654328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feld 35">
            <a:extLst>
              <a:ext uri="{FF2B5EF4-FFF2-40B4-BE49-F238E27FC236}">
                <a16:creationId xmlns:a16="http://schemas.microsoft.com/office/drawing/2014/main" id="{2D3FB582-7E21-2F0F-A157-4672A8A2EC1C}"/>
              </a:ext>
            </a:extLst>
          </p:cNvPr>
          <p:cNvSpPr txBox="1"/>
          <p:nvPr/>
        </p:nvSpPr>
        <p:spPr>
          <a:xfrm>
            <a:off x="4006607" y="1893322"/>
            <a:ext cx="481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218141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3" grpId="0" animBg="1"/>
      <p:bldP spid="9" grpId="0" animBg="1"/>
      <p:bldP spid="37" grpId="0"/>
      <p:bldP spid="37" grpId="1"/>
      <p:bldP spid="11" grpId="0" animBg="1"/>
      <p:bldP spid="11" grpId="1" animBg="1"/>
      <p:bldP spid="11" grpId="2" animBg="1"/>
      <p:bldP spid="28" grpId="0" animBg="1"/>
      <p:bldP spid="7" grpId="0"/>
      <p:bldP spid="7" grpId="1"/>
      <p:bldP spid="13" grpId="0" animBg="1"/>
      <p:bldP spid="14" grpId="0" animBg="1"/>
      <p:bldP spid="3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30165-3DF9-D1F3-6EF0-D93657CC7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AB19DD4-D07B-A63B-15A0-292B33294F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Transaction Isolation Levels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12F026EE-A3F6-D476-40B1-59D0DFEBEB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tabLst>
                <a:tab pos="2393891" algn="l"/>
              </a:tabLst>
            </a:pPr>
            <a:r>
              <a:rPr lang="en-US" dirty="0"/>
              <a:t>controlling the management of </a:t>
            </a:r>
            <a:r>
              <a:rPr lang="en-US" b="1" dirty="0"/>
              <a:t>visibility</a:t>
            </a:r>
          </a:p>
        </p:txBody>
      </p:sp>
    </p:spTree>
    <p:extLst>
      <p:ext uri="{BB962C8B-B14F-4D97-AF65-F5344CB8AC3E}">
        <p14:creationId xmlns:p14="http://schemas.microsoft.com/office/powerpoint/2010/main" val="702285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5B1B6-4C6E-1A35-DF79-24AC12DB0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22EFBC-5255-F851-78EC-B7CECB599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Isolation Levels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823F92-6166-8783-9C3E-1D310349C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5" y="1665287"/>
            <a:ext cx="11522075" cy="194310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Transaction Isolation Levels in SQL Server control the visibility of data changes made by concurrent transactions</a:t>
            </a:r>
          </a:p>
          <a:p>
            <a:r>
              <a:rPr lang="en-US" dirty="0"/>
              <a:t>Manage, how transactions interact with each other.</a:t>
            </a:r>
          </a:p>
          <a:p>
            <a:r>
              <a:rPr lang="en-US" dirty="0"/>
              <a:t>There are five main isolation levels, each providing a different balance between consistency and concurrency: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E11BD4F7-5825-1BC1-1D3C-BF74F17874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758571"/>
              </p:ext>
            </p:extLst>
          </p:nvPr>
        </p:nvGraphicFramePr>
        <p:xfrm>
          <a:off x="334960" y="3608388"/>
          <a:ext cx="11522072" cy="2357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518">
                  <a:extLst>
                    <a:ext uri="{9D8B030D-6E8A-4147-A177-3AD203B41FA5}">
                      <a16:colId xmlns:a16="http://schemas.microsoft.com/office/drawing/2014/main" val="1846009585"/>
                    </a:ext>
                  </a:extLst>
                </a:gridCol>
                <a:gridCol w="2880518">
                  <a:extLst>
                    <a:ext uri="{9D8B030D-6E8A-4147-A177-3AD203B41FA5}">
                      <a16:colId xmlns:a16="http://schemas.microsoft.com/office/drawing/2014/main" val="53477002"/>
                    </a:ext>
                  </a:extLst>
                </a:gridCol>
                <a:gridCol w="2880518">
                  <a:extLst>
                    <a:ext uri="{9D8B030D-6E8A-4147-A177-3AD203B41FA5}">
                      <a16:colId xmlns:a16="http://schemas.microsoft.com/office/drawing/2014/main" val="922893009"/>
                    </a:ext>
                  </a:extLst>
                </a:gridCol>
                <a:gridCol w="2880518">
                  <a:extLst>
                    <a:ext uri="{9D8B030D-6E8A-4147-A177-3AD203B41FA5}">
                      <a16:colId xmlns:a16="http://schemas.microsoft.com/office/drawing/2014/main" val="21686163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Isolation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Dirty 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Phantom 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 Repeatable Read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869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Read Uncommitted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 b="1" dirty="0">
                          <a:solidFill>
                            <a:srgbClr val="00B050"/>
                          </a:solidFill>
                          <a:latin typeface="+mn-lt"/>
                        </a:rPr>
                        <a:t>✓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 b="1" dirty="0">
                          <a:solidFill>
                            <a:srgbClr val="00B050"/>
                          </a:solidFill>
                          <a:latin typeface="+mn-lt"/>
                        </a:rPr>
                        <a:t>✓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 b="1" dirty="0">
                          <a:solidFill>
                            <a:srgbClr val="00B050"/>
                          </a:solidFill>
                          <a:latin typeface="+mn-lt"/>
                        </a:rPr>
                        <a:t>✓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17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Read Committed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b="1" dirty="0">
                          <a:solidFill>
                            <a:srgbClr val="00B050"/>
                          </a:solidFill>
                          <a:latin typeface="+mn-lt"/>
                        </a:rPr>
                        <a:t>✓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b="1" dirty="0">
                          <a:solidFill>
                            <a:srgbClr val="00B050"/>
                          </a:solidFill>
                          <a:latin typeface="+mn-lt"/>
                        </a:rPr>
                        <a:t>✓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130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Repeatable 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800" b="1" dirty="0">
                          <a:solidFill>
                            <a:srgbClr val="00B050"/>
                          </a:solidFill>
                          <a:latin typeface="+mn-lt"/>
                        </a:rPr>
                        <a:t>✓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138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Serializable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de-DE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de-DE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862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Snapshot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396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7805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44B8C8-828B-8B61-2E21-94A8E5EEB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Dirty Reads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C65E558-D66C-ABFA-104E-CE4AA6F95691}"/>
              </a:ext>
            </a:extLst>
          </p:cNvPr>
          <p:cNvSpPr txBox="1"/>
          <p:nvPr/>
        </p:nvSpPr>
        <p:spPr>
          <a:xfrm>
            <a:off x="334966" y="1557339"/>
            <a:ext cx="35829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UPDATE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US" sz="12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customers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SET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c_name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‘New company 0010’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WHERE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c_custkey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</a:t>
            </a:r>
            <a:r>
              <a:rPr lang="en-US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GO</a:t>
            </a:r>
            <a:endParaRPr lang="en-US" sz="1200" dirty="0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89714BB9-47D9-786C-DCE5-5BC4A218FC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93527"/>
              </p:ext>
            </p:extLst>
          </p:nvPr>
        </p:nvGraphicFramePr>
        <p:xfrm>
          <a:off x="334966" y="2878938"/>
          <a:ext cx="419698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619">
                  <a:extLst>
                    <a:ext uri="{9D8B030D-6E8A-4147-A177-3AD203B41FA5}">
                      <a16:colId xmlns:a16="http://schemas.microsoft.com/office/drawing/2014/main" val="2842870475"/>
                    </a:ext>
                  </a:extLst>
                </a:gridCol>
                <a:gridCol w="841693">
                  <a:extLst>
                    <a:ext uri="{9D8B030D-6E8A-4147-A177-3AD203B41FA5}">
                      <a16:colId xmlns:a16="http://schemas.microsoft.com/office/drawing/2014/main" val="3591536121"/>
                    </a:ext>
                  </a:extLst>
                </a:gridCol>
                <a:gridCol w="2752675">
                  <a:extLst>
                    <a:ext uri="{9D8B030D-6E8A-4147-A177-3AD203B41FA5}">
                      <a16:colId xmlns:a16="http://schemas.microsoft.com/office/drawing/2014/main" val="888928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c_custkey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c_name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907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Customer 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858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Customer 0002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718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557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1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New company 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795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Customer 0011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778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Customer 0012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637111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1662D993-7536-AE2D-CBC5-5206B300C59D}"/>
              </a:ext>
            </a:extLst>
          </p:cNvPr>
          <p:cNvSpPr txBox="1"/>
          <p:nvPr/>
        </p:nvSpPr>
        <p:spPr>
          <a:xfrm>
            <a:off x="6267442" y="1557339"/>
            <a:ext cx="48521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 TRANSACTION ISOLATION LEVEL READ UNCOMMITTED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 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b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US" sz="12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customers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c_custkey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</a:t>
            </a:r>
            <a:r>
              <a:rPr lang="en-US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10</a:t>
            </a:r>
            <a:r>
              <a:rPr lang="en-US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US" sz="1200" dirty="0"/>
          </a:p>
        </p:txBody>
      </p:sp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4463BE95-643F-8AF9-A915-9AE48FCFE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525006"/>
              </p:ext>
            </p:extLst>
          </p:nvPr>
        </p:nvGraphicFramePr>
        <p:xfrm>
          <a:off x="6267442" y="2878938"/>
          <a:ext cx="419698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619">
                  <a:extLst>
                    <a:ext uri="{9D8B030D-6E8A-4147-A177-3AD203B41FA5}">
                      <a16:colId xmlns:a16="http://schemas.microsoft.com/office/drawing/2014/main" val="2842870475"/>
                    </a:ext>
                  </a:extLst>
                </a:gridCol>
                <a:gridCol w="841693">
                  <a:extLst>
                    <a:ext uri="{9D8B030D-6E8A-4147-A177-3AD203B41FA5}">
                      <a16:colId xmlns:a16="http://schemas.microsoft.com/office/drawing/2014/main" val="3591536121"/>
                    </a:ext>
                  </a:extLst>
                </a:gridCol>
                <a:gridCol w="2752675">
                  <a:extLst>
                    <a:ext uri="{9D8B030D-6E8A-4147-A177-3AD203B41FA5}">
                      <a16:colId xmlns:a16="http://schemas.microsoft.com/office/drawing/2014/main" val="888928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c_custkey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c_name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907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100" b="1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Customer 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858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100" b="1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Customer 0002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718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100" b="1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557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100" b="1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New company 0010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(uncommitted!)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795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100" b="1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Customer 0011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778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100" b="1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Customer 0012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637111"/>
                  </a:ext>
                </a:extLst>
              </a:tr>
            </a:tbl>
          </a:graphicData>
        </a:graphic>
      </p:graphicFrame>
      <p:sp>
        <p:nvSpPr>
          <p:cNvPr id="10" name="Textfeld 9">
            <a:extLst>
              <a:ext uri="{FF2B5EF4-FFF2-40B4-BE49-F238E27FC236}">
                <a16:creationId xmlns:a16="http://schemas.microsoft.com/office/drawing/2014/main" id="{57316FED-2EE6-254E-E67F-707CEF301DF3}"/>
              </a:ext>
            </a:extLst>
          </p:cNvPr>
          <p:cNvSpPr txBox="1"/>
          <p:nvPr/>
        </p:nvSpPr>
        <p:spPr>
          <a:xfrm>
            <a:off x="334966" y="4354285"/>
            <a:ext cx="588143" cy="378824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1DF0240-2445-1CFF-E522-6FAD01333C6B}"/>
              </a:ext>
            </a:extLst>
          </p:cNvPr>
          <p:cNvSpPr txBox="1"/>
          <p:nvPr/>
        </p:nvSpPr>
        <p:spPr>
          <a:xfrm>
            <a:off x="6267442" y="3229564"/>
            <a:ext cx="588143" cy="378824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chemeClr val="accent6"/>
                </a:solidFill>
              </a:rPr>
              <a:t>S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A8A5C4F-F4CB-46D4-55F5-BDDFD3008E36}"/>
              </a:ext>
            </a:extLst>
          </p:cNvPr>
          <p:cNvSpPr txBox="1"/>
          <p:nvPr/>
        </p:nvSpPr>
        <p:spPr>
          <a:xfrm>
            <a:off x="6267441" y="3608388"/>
            <a:ext cx="588143" cy="378824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chemeClr val="accent6"/>
                </a:solidFill>
              </a:rPr>
              <a:t>S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BB1C186-43F1-F4A9-FC0B-00ACC3425C00}"/>
              </a:ext>
            </a:extLst>
          </p:cNvPr>
          <p:cNvSpPr txBox="1"/>
          <p:nvPr/>
        </p:nvSpPr>
        <p:spPr>
          <a:xfrm>
            <a:off x="6267440" y="3987212"/>
            <a:ext cx="588143" cy="378824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chemeClr val="accent6"/>
                </a:solidFill>
              </a:rPr>
              <a:t>S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23FAE54-B045-ED33-7D9F-D5E0B48099F1}"/>
              </a:ext>
            </a:extLst>
          </p:cNvPr>
          <p:cNvSpPr txBox="1"/>
          <p:nvPr/>
        </p:nvSpPr>
        <p:spPr>
          <a:xfrm>
            <a:off x="6267439" y="4366036"/>
            <a:ext cx="588143" cy="378824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chemeClr val="accent6"/>
                </a:solidFill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2163911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1" grpId="1"/>
      <p:bldP spid="12" grpId="0"/>
      <p:bldP spid="12" grpId="1"/>
      <p:bldP spid="13" grpId="0"/>
      <p:bldP spid="13" grpId="1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40506-8882-EE45-516B-360F04CF7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C23BF8-CE7C-2427-9B00-C1D558FB7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Phantom Reads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D08D170-3C9A-8B1B-8137-195E716C1703}"/>
              </a:ext>
            </a:extLst>
          </p:cNvPr>
          <p:cNvSpPr txBox="1"/>
          <p:nvPr/>
        </p:nvSpPr>
        <p:spPr>
          <a:xfrm>
            <a:off x="334966" y="1557339"/>
            <a:ext cx="35829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US" sz="12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customers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c_custkey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2000000</a:t>
            </a:r>
          </a:p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c_custkey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US" sz="1200" dirty="0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2E95E20E-5F70-98AD-9F87-C8B987DCFA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863340"/>
              </p:ext>
            </p:extLst>
          </p:nvPr>
        </p:nvGraphicFramePr>
        <p:xfrm>
          <a:off x="334966" y="2878938"/>
          <a:ext cx="3594368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693">
                  <a:extLst>
                    <a:ext uri="{9D8B030D-6E8A-4147-A177-3AD203B41FA5}">
                      <a16:colId xmlns:a16="http://schemas.microsoft.com/office/drawing/2014/main" val="3591536121"/>
                    </a:ext>
                  </a:extLst>
                </a:gridCol>
                <a:gridCol w="2752675">
                  <a:extLst>
                    <a:ext uri="{9D8B030D-6E8A-4147-A177-3AD203B41FA5}">
                      <a16:colId xmlns:a16="http://schemas.microsoft.com/office/drawing/2014/main" val="888928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dirty="0" err="1"/>
                        <a:t>c_custkey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c_name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907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Customer 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858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Customer 0002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718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557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New company 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795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778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637111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C4B8095D-A5D0-F379-9939-C4A6097EC772}"/>
              </a:ext>
            </a:extLst>
          </p:cNvPr>
          <p:cNvSpPr txBox="1"/>
          <p:nvPr/>
        </p:nvSpPr>
        <p:spPr>
          <a:xfrm>
            <a:off x="6267442" y="1557339"/>
            <a:ext cx="4852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2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COUNT_BIG</a:t>
            </a:r>
            <a:r>
              <a:rPr lang="en-US" sz="1200" dirty="0">
                <a:highlight>
                  <a:srgbClr val="FFFFFF"/>
                </a:highlight>
                <a:latin typeface="Cascadia Mono" panose="020B0609020000020004" pitchFamily="49" charset="0"/>
              </a:rPr>
              <a:t>(*)</a:t>
            </a:r>
            <a:b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US" sz="12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customers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US" sz="1200" dirty="0"/>
          </a:p>
        </p:txBody>
      </p:sp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1E4C06E0-AC8E-075B-2924-9356EC46F6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507034"/>
              </p:ext>
            </p:extLst>
          </p:nvPr>
        </p:nvGraphicFramePr>
        <p:xfrm>
          <a:off x="6267442" y="2878938"/>
          <a:ext cx="3594368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693">
                  <a:extLst>
                    <a:ext uri="{9D8B030D-6E8A-4147-A177-3AD203B41FA5}">
                      <a16:colId xmlns:a16="http://schemas.microsoft.com/office/drawing/2014/main" val="3591536121"/>
                    </a:ext>
                  </a:extLst>
                </a:gridCol>
                <a:gridCol w="2752675">
                  <a:extLst>
                    <a:ext uri="{9D8B030D-6E8A-4147-A177-3AD203B41FA5}">
                      <a16:colId xmlns:a16="http://schemas.microsoft.com/office/drawing/2014/main" val="888928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dirty="0" err="1"/>
                        <a:t>c_custkey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c_name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907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accent6"/>
                          </a:solidFill>
                        </a:rPr>
                        <a:t>Customer 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858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chemeClr val="accent6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accent6"/>
                          </a:solidFill>
                        </a:rPr>
                        <a:t>Customer 0002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718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557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New company 0010</a:t>
                      </a:r>
                      <a:endParaRPr lang="en-US" sz="11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795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/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778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637111"/>
                  </a:ext>
                </a:extLst>
              </a:tr>
            </a:tbl>
          </a:graphicData>
        </a:graphic>
      </p:graphicFrame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BCD8A188-A3D0-8A7E-3CCF-807A68161B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459622"/>
              </p:ext>
            </p:extLst>
          </p:nvPr>
        </p:nvGraphicFramePr>
        <p:xfrm>
          <a:off x="334966" y="2878938"/>
          <a:ext cx="3594368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693">
                  <a:extLst>
                    <a:ext uri="{9D8B030D-6E8A-4147-A177-3AD203B41FA5}">
                      <a16:colId xmlns:a16="http://schemas.microsoft.com/office/drawing/2014/main" val="3591536121"/>
                    </a:ext>
                  </a:extLst>
                </a:gridCol>
                <a:gridCol w="2752675">
                  <a:extLst>
                    <a:ext uri="{9D8B030D-6E8A-4147-A177-3AD203B41FA5}">
                      <a16:colId xmlns:a16="http://schemas.microsoft.com/office/drawing/2014/main" val="888928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dirty="0" err="1"/>
                        <a:t>c_custkey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c_name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907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Customer 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858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718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557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New company 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795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778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637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2000000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Customer2000000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933438"/>
                  </a:ext>
                </a:extLst>
              </a:tr>
            </a:tbl>
          </a:graphicData>
        </a:graphic>
      </p:graphicFrame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1F739563-A68D-C300-BADA-340C9C90CE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876085"/>
              </p:ext>
            </p:extLst>
          </p:nvPr>
        </p:nvGraphicFramePr>
        <p:xfrm>
          <a:off x="6267442" y="2878938"/>
          <a:ext cx="3594368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693">
                  <a:extLst>
                    <a:ext uri="{9D8B030D-6E8A-4147-A177-3AD203B41FA5}">
                      <a16:colId xmlns:a16="http://schemas.microsoft.com/office/drawing/2014/main" val="3591536121"/>
                    </a:ext>
                  </a:extLst>
                </a:gridCol>
                <a:gridCol w="2752675">
                  <a:extLst>
                    <a:ext uri="{9D8B030D-6E8A-4147-A177-3AD203B41FA5}">
                      <a16:colId xmlns:a16="http://schemas.microsoft.com/office/drawing/2014/main" val="888928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dirty="0" err="1"/>
                        <a:t>c_custkey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c_name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907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chemeClr val="accent6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accent6"/>
                          </a:solidFill>
                        </a:rPr>
                        <a:t>Customer 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858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US" sz="1100" b="1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718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chemeClr val="accent6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557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chemeClr val="accent6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accent6"/>
                          </a:solidFill>
                        </a:rPr>
                        <a:t>New company 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795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chemeClr val="accent6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accent6"/>
                          </a:solidFill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5778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chemeClr val="accent6"/>
                          </a:solidFill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accent6"/>
                          </a:solidFill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637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chemeClr val="accent6"/>
                          </a:solidFill>
                        </a:rPr>
                        <a:t>2000000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chemeClr val="accent6"/>
                          </a:solidFill>
                        </a:rPr>
                        <a:t>Customer2000000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933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070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6B9C2-0D65-2EA7-F655-F137CFAB0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8668E183-D5F2-A8B2-64E9-68CD09B5B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Transaction Isolation Levels</a:t>
            </a:r>
            <a:endParaRPr lang="en-US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936AAD6-F94C-076B-D190-7BD3B6ECA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181" y="1700213"/>
            <a:ext cx="4465637" cy="446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546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835D2-945B-329C-88B0-B9169799A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50C8E2E-0C3C-A818-F633-B5943D9CB3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Deadlocks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A0B3CC06-F7BF-A9F3-FB11-12744365D7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tabLst>
                <a:tab pos="2393891" algn="l"/>
              </a:tabLst>
            </a:pPr>
            <a:r>
              <a:rPr lang="en-US" dirty="0"/>
              <a:t>concurrency problems that SQL Server can no longer solve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62591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5C4EDA-0E45-AE7F-692A-A89505997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Dining Philosophers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5BC0322-276E-07FC-A94C-D603BD8C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1665288"/>
            <a:ext cx="7768116" cy="4644032"/>
          </a:xfrm>
        </p:spPr>
        <p:txBody>
          <a:bodyPr>
            <a:normAutofit/>
          </a:bodyPr>
          <a:lstStyle/>
          <a:p>
            <a:r>
              <a:rPr lang="en-US" noProof="0" dirty="0"/>
              <a:t>Dining Philosophers Problem</a:t>
            </a:r>
          </a:p>
          <a:p>
            <a:pPr lvl="1"/>
            <a:r>
              <a:rPr lang="en-US" noProof="0" dirty="0"/>
              <a:t>Five philosophers sit at a round table, alternating between thinking and eating. Each philosopher has a plate of spaghetti and a fork on either side of their plate.</a:t>
            </a:r>
          </a:p>
          <a:p>
            <a:pPr lvl="1"/>
            <a:r>
              <a:rPr lang="en-US" noProof="0" dirty="0"/>
              <a:t>To eat, a philosopher needs to use both forks. Since each philosopher shares a fork with their neighbor, there are only five forks available.</a:t>
            </a:r>
          </a:p>
          <a:p>
            <a:pPr lvl="1"/>
            <a:r>
              <a:rPr lang="en-US" noProof="0" dirty="0"/>
              <a:t>Philosophers must avoid </a:t>
            </a:r>
            <a:r>
              <a:rPr lang="en-US" b="1" noProof="0" dirty="0"/>
              <a:t>deadlock</a:t>
            </a:r>
            <a:r>
              <a:rPr lang="en-US" noProof="0" dirty="0"/>
              <a:t>, where each philosopher picks up one fork and waits indefinitely for the other fork to become available.</a:t>
            </a:r>
          </a:p>
          <a:p>
            <a:pPr lvl="1"/>
            <a:r>
              <a:rPr lang="en-US" noProof="0" dirty="0"/>
              <a:t>Strategies include allowing only a subset of philosophers to pick up forks at the same time, using a waiter to control access to forks, or implementing an asymmetric solution to break potential deadlocks.</a:t>
            </a:r>
          </a:p>
          <a:p>
            <a:r>
              <a:rPr lang="en-US" noProof="0" dirty="0"/>
              <a:t>This problem illustrates issues of resource allocation and synchronization in concurrent programming, highlighting challenges in ensuring deadlock-free and efficient resource sharing among processes.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89B4A94-E9B8-9603-8EAB-15B004564D7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36" y="1665288"/>
            <a:ext cx="3580804" cy="3711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32764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19D473E7-20CF-D15A-D909-2DAF4A92F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Jacky with Cola…</a:t>
            </a:r>
          </a:p>
        </p:txBody>
      </p:sp>
      <p:pic>
        <p:nvPicPr>
          <p:cNvPr id="1026" name="Picture 2" descr="Whiskey Jack Daniels Cola Flasche Kaufen Jack Daniels Old No ...">
            <a:extLst>
              <a:ext uri="{FF2B5EF4-FFF2-40B4-BE49-F238E27FC236}">
                <a16:creationId xmlns:a16="http://schemas.microsoft.com/office/drawing/2014/main" id="{11E47BAB-455A-09E2-4E22-1135933706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3" b="14939"/>
          <a:stretch>
            <a:fillRect/>
          </a:stretch>
        </p:blipFill>
        <p:spPr bwMode="auto">
          <a:xfrm>
            <a:off x="2666999" y="1688636"/>
            <a:ext cx="6858000" cy="4144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BEST Jack and Coke with Expert Tips - Platter Talk">
            <a:extLst>
              <a:ext uri="{FF2B5EF4-FFF2-40B4-BE49-F238E27FC236}">
                <a16:creationId xmlns:a16="http://schemas.microsoft.com/office/drawing/2014/main" id="{78067D26-3C20-D15E-09D2-65709F6B8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8866" y="1688635"/>
            <a:ext cx="4134267" cy="4134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3734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0EFC66-D9BA-DC87-87D2-DDCA25F5B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Deadlock Scenarios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8B00AE-F5D6-8AEB-8F89-A5DAE0103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 Deadlock</a:t>
            </a:r>
          </a:p>
          <a:p>
            <a:r>
              <a:rPr lang="en-US" dirty="0"/>
              <a:t>Range Deadlock</a:t>
            </a:r>
          </a:p>
          <a:p>
            <a:r>
              <a:rPr lang="en-US" dirty="0"/>
              <a:t>Implicit Deadlock</a:t>
            </a:r>
          </a:p>
          <a:p>
            <a:r>
              <a:rPr lang="en-US" dirty="0"/>
              <a:t>NOLOCK Deadlock</a:t>
            </a:r>
          </a:p>
          <a:p>
            <a:r>
              <a:rPr lang="en-US" dirty="0"/>
              <a:t>Memory Grant Deadlock</a:t>
            </a:r>
          </a:p>
          <a:p>
            <a:r>
              <a:rPr lang="en-US" dirty="0"/>
              <a:t>Parallelism Deadlock</a:t>
            </a:r>
          </a:p>
        </p:txBody>
      </p:sp>
    </p:spTree>
    <p:extLst>
      <p:ext uri="{BB962C8B-B14F-4D97-AF65-F5344CB8AC3E}">
        <p14:creationId xmlns:p14="http://schemas.microsoft.com/office/powerpoint/2010/main" val="36636337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F35A0-EEDC-E4C3-8B83-6A9FEFB61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E2C13F8-8E2E-8934-B363-F01DE5D8E7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Classic Deadlock Scenario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87ABF080-FE6D-AD68-9F46-6CF704DC74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tabLst>
                <a:tab pos="2393891" algn="l"/>
              </a:tabLst>
            </a:pPr>
            <a:r>
              <a:rPr lang="en-US" dirty="0"/>
              <a:t>Every child wants their friend's toy without giving up their own.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405392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04D707-CA4B-FE67-AA26-195EA033B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 Deadlock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ED975E3-6DA1-1855-FFED-F4F969AD19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1665288"/>
            <a:ext cx="3114135" cy="970706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358775" algn="l"/>
              </a:tabLst>
            </a:pP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update_customers</a:t>
            </a:r>
            <a:r>
              <a:rPr lang="en-US" sz="11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b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b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1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 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US" sz="11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customers</a:t>
            </a:r>
            <a:b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    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c_name </a:t>
            </a:r>
            <a:r>
              <a:rPr lang="en-US" sz="11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'Uwe’</a:t>
            </a:r>
            <a:br>
              <a:rPr lang="en-US" sz="11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1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  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c_custkey </a:t>
            </a:r>
            <a:r>
              <a:rPr lang="en-US" sz="11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</a:t>
            </a:r>
            <a:r>
              <a:rPr lang="en-US" sz="11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404D63F-3FC5-D990-3B26-B442A4EB37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83108" y="2635994"/>
            <a:ext cx="2873532" cy="970706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358775" algn="l"/>
              </a:tabLst>
            </a:pP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update_nations</a:t>
            </a:r>
            <a:b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b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1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 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US" sz="11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nations</a:t>
            </a:r>
            <a:b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    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n_name </a:t>
            </a:r>
            <a:r>
              <a:rPr lang="en-US" sz="11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'UK’</a:t>
            </a:r>
            <a:b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  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n_nationkey </a:t>
            </a:r>
            <a:r>
              <a:rPr lang="en-US" sz="11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2</a:t>
            </a:r>
            <a:r>
              <a:rPr lang="en-US" sz="11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1100" dirty="0">
              <a:latin typeface="Lucida Console" panose="020B0609040504020204" pitchFamily="49" charset="0"/>
            </a:endParaRP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B183981B-AE07-05EF-61C4-CB5F3AB677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471130"/>
              </p:ext>
            </p:extLst>
          </p:nvPr>
        </p:nvGraphicFramePr>
        <p:xfrm>
          <a:off x="4441765" y="1716865"/>
          <a:ext cx="330846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248">
                  <a:extLst>
                    <a:ext uri="{9D8B030D-6E8A-4147-A177-3AD203B41FA5}">
                      <a16:colId xmlns:a16="http://schemas.microsoft.com/office/drawing/2014/main" val="2562181325"/>
                    </a:ext>
                  </a:extLst>
                </a:gridCol>
                <a:gridCol w="899859">
                  <a:extLst>
                    <a:ext uri="{9D8B030D-6E8A-4147-A177-3AD203B41FA5}">
                      <a16:colId xmlns:a16="http://schemas.microsoft.com/office/drawing/2014/main" val="1684396349"/>
                    </a:ext>
                  </a:extLst>
                </a:gridCol>
                <a:gridCol w="1202436">
                  <a:extLst>
                    <a:ext uri="{9D8B030D-6E8A-4147-A177-3AD203B41FA5}">
                      <a16:colId xmlns:a16="http://schemas.microsoft.com/office/drawing/2014/main" val="1213706577"/>
                    </a:ext>
                  </a:extLst>
                </a:gridCol>
                <a:gridCol w="636926">
                  <a:extLst>
                    <a:ext uri="{9D8B030D-6E8A-4147-A177-3AD203B41FA5}">
                      <a16:colId xmlns:a16="http://schemas.microsoft.com/office/drawing/2014/main" val="3077172326"/>
                    </a:ext>
                  </a:extLst>
                </a:gridCol>
              </a:tblGrid>
              <a:tr h="188729">
                <a:tc gridSpan="4">
                  <a:txBody>
                    <a:bodyPr/>
                    <a:lstStyle/>
                    <a:p>
                      <a:r>
                        <a:rPr lang="en-US" sz="1200" dirty="0"/>
                        <a:t>dbo.customers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815010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r>
                        <a:rPr lang="en-US" sz="1200" b="1" dirty="0"/>
                        <a:t>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c_custkey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c_name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lock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680422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Customer0001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985555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Customer0002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219787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Customer0003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208050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Customer0004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1224182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customer0005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928733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01C761C3-73E2-33DF-29B2-DBAF1969F4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123434"/>
              </p:ext>
            </p:extLst>
          </p:nvPr>
        </p:nvGraphicFramePr>
        <p:xfrm>
          <a:off x="4441765" y="3958721"/>
          <a:ext cx="3308467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7681">
                  <a:extLst>
                    <a:ext uri="{9D8B030D-6E8A-4147-A177-3AD203B41FA5}">
                      <a16:colId xmlns:a16="http://schemas.microsoft.com/office/drawing/2014/main" val="454890317"/>
                    </a:ext>
                  </a:extLst>
                </a:gridCol>
                <a:gridCol w="1152841">
                  <a:extLst>
                    <a:ext uri="{9D8B030D-6E8A-4147-A177-3AD203B41FA5}">
                      <a16:colId xmlns:a16="http://schemas.microsoft.com/office/drawing/2014/main" val="1684396349"/>
                    </a:ext>
                  </a:extLst>
                </a:gridCol>
                <a:gridCol w="892196">
                  <a:extLst>
                    <a:ext uri="{9D8B030D-6E8A-4147-A177-3AD203B41FA5}">
                      <a16:colId xmlns:a16="http://schemas.microsoft.com/office/drawing/2014/main" val="1213706577"/>
                    </a:ext>
                  </a:extLst>
                </a:gridCol>
                <a:gridCol w="655749">
                  <a:extLst>
                    <a:ext uri="{9D8B030D-6E8A-4147-A177-3AD203B41FA5}">
                      <a16:colId xmlns:a16="http://schemas.microsoft.com/office/drawing/2014/main" val="2064595436"/>
                    </a:ext>
                  </a:extLst>
                </a:gridCol>
              </a:tblGrid>
              <a:tr h="213662">
                <a:tc gridSpan="4">
                  <a:txBody>
                    <a:bodyPr/>
                    <a:lstStyle/>
                    <a:p>
                      <a:r>
                        <a:rPr lang="en-US" sz="1200" dirty="0"/>
                        <a:t>dbo.nations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815010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r>
                        <a:rPr lang="en-US" sz="1200" b="1" dirty="0"/>
                        <a:t>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n_nationkey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n_name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lock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680422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Algeria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985555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219787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Germany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208050"/>
                  </a:ext>
                </a:extLst>
              </a:tr>
            </a:tbl>
          </a:graphicData>
        </a:graphic>
      </p:graphicFrame>
      <p:sp>
        <p:nvSpPr>
          <p:cNvPr id="10" name="Textfeld 9">
            <a:extLst>
              <a:ext uri="{FF2B5EF4-FFF2-40B4-BE49-F238E27FC236}">
                <a16:creationId xmlns:a16="http://schemas.microsoft.com/office/drawing/2014/main" id="{2E88EACA-2775-6F2B-4FF2-E99F8D2C7D5F}"/>
              </a:ext>
            </a:extLst>
          </p:cNvPr>
          <p:cNvSpPr txBox="1"/>
          <p:nvPr/>
        </p:nvSpPr>
        <p:spPr>
          <a:xfrm>
            <a:off x="7264053" y="4755326"/>
            <a:ext cx="2856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X</a:t>
            </a:r>
            <a:endParaRPr lang="en-US" sz="120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B6478BE-4F19-3310-4DFC-38DC4727BEED}"/>
              </a:ext>
            </a:extLst>
          </p:cNvPr>
          <p:cNvSpPr txBox="1"/>
          <p:nvPr/>
        </p:nvSpPr>
        <p:spPr>
          <a:xfrm>
            <a:off x="4568325" y="2804431"/>
            <a:ext cx="2856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X</a:t>
            </a:r>
            <a:endParaRPr lang="en-US" sz="1200" dirty="0"/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EA63124F-D79B-92FD-DC17-1B7ED1FA494F}"/>
              </a:ext>
            </a:extLst>
          </p:cNvPr>
          <p:cNvSpPr txBox="1">
            <a:spLocks/>
          </p:cNvSpPr>
          <p:nvPr/>
        </p:nvSpPr>
        <p:spPr>
          <a:xfrm>
            <a:off x="335360" y="3608388"/>
            <a:ext cx="3114135" cy="516882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>
            <a:lvl1pPr marL="228578" indent="-228578" algn="l" defTabSz="9143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34" indent="-228578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86" indent="-228578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40" indent="-228578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95" indent="-228578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49" indent="-228578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04" indent="-228578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58" indent="-228578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14" indent="-228578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tabLst>
                <a:tab pos="358775" algn="l"/>
              </a:tabLst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1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11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1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dbo.nations</a:t>
            </a:r>
            <a:br>
              <a:rPr lang="en-US" sz="11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1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1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n_nationkey = 2;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FAC3D66-8E1E-7F28-CE45-B864990C5C38}"/>
              </a:ext>
            </a:extLst>
          </p:cNvPr>
          <p:cNvSpPr txBox="1"/>
          <p:nvPr/>
        </p:nvSpPr>
        <p:spPr>
          <a:xfrm>
            <a:off x="4562922" y="4755326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</a:rPr>
              <a:t>S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4" name="Inhaltsplatzhalter 3">
            <a:extLst>
              <a:ext uri="{FF2B5EF4-FFF2-40B4-BE49-F238E27FC236}">
                <a16:creationId xmlns:a16="http://schemas.microsoft.com/office/drawing/2014/main" id="{433D4D87-C2E9-EE95-C74C-275E499DD26D}"/>
              </a:ext>
            </a:extLst>
          </p:cNvPr>
          <p:cNvSpPr txBox="1">
            <a:spLocks/>
          </p:cNvSpPr>
          <p:nvPr/>
        </p:nvSpPr>
        <p:spPr>
          <a:xfrm>
            <a:off x="8983104" y="4134619"/>
            <a:ext cx="2873532" cy="516882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>
            <a:lvl1pPr marL="228578" indent="-228578" algn="l" defTabSz="9143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34" indent="-228578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86" indent="-228578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40" indent="-228578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95" indent="-228578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49" indent="-228578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04" indent="-228578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58" indent="-228578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14" indent="-228578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tabLst>
                <a:tab pos="358775" algn="l"/>
              </a:tabLst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1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11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1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dbo.customers</a:t>
            </a:r>
            <a:br>
              <a:rPr lang="en-US" sz="11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1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1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c_custkey = 3;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9FD61FE9-F27E-9E20-34DB-D17BD05B6C78}"/>
              </a:ext>
            </a:extLst>
          </p:cNvPr>
          <p:cNvSpPr txBox="1"/>
          <p:nvPr/>
        </p:nvSpPr>
        <p:spPr>
          <a:xfrm>
            <a:off x="7264053" y="2804431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strike="sngStrike" dirty="0">
                <a:solidFill>
                  <a:srgbClr val="00B050"/>
                </a:solidFill>
              </a:rPr>
              <a:t>S</a:t>
            </a:r>
            <a:endParaRPr lang="en-US" sz="1200" strike="sngStrike" dirty="0">
              <a:solidFill>
                <a:srgbClr val="00B050"/>
              </a:solidFill>
            </a:endParaRP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1387F504-529A-81EE-925D-6A3C3A8C330C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>
            <a:off x="3449495" y="2150641"/>
            <a:ext cx="1118830" cy="79229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6EB036B1-6741-E944-3F4F-6272F4CC6500}"/>
              </a:ext>
            </a:extLst>
          </p:cNvPr>
          <p:cNvCxnSpPr>
            <a:stCxn id="5" idx="1"/>
            <a:endCxn id="10" idx="3"/>
          </p:cNvCxnSpPr>
          <p:nvPr/>
        </p:nvCxnSpPr>
        <p:spPr>
          <a:xfrm flipH="1">
            <a:off x="7549709" y="3121347"/>
            <a:ext cx="1433399" cy="177247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B44F8F2B-0730-4A3E-7ED9-2D41D27225DA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3449495" y="3866829"/>
            <a:ext cx="1113427" cy="102699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2E003972-D6B6-AD09-8442-BCD002763668}"/>
              </a:ext>
            </a:extLst>
          </p:cNvPr>
          <p:cNvCxnSpPr>
            <a:stCxn id="14" idx="1"/>
            <a:endCxn id="15" idx="3"/>
          </p:cNvCxnSpPr>
          <p:nvPr/>
        </p:nvCxnSpPr>
        <p:spPr>
          <a:xfrm flipH="1" flipV="1">
            <a:off x="7535281" y="2942931"/>
            <a:ext cx="1447823" cy="145012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B88FAEE0-3210-959E-B884-CBFAC4B6C3DF}"/>
              </a:ext>
            </a:extLst>
          </p:cNvPr>
          <p:cNvSpPr txBox="1"/>
          <p:nvPr/>
        </p:nvSpPr>
        <p:spPr>
          <a:xfrm>
            <a:off x="3264076" y="1734915"/>
            <a:ext cx="945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B050"/>
                </a:solidFill>
              </a:rPr>
              <a:t>Granted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9DD37079-DA53-263A-A1F1-BCC9BB49ADCB}"/>
              </a:ext>
            </a:extLst>
          </p:cNvPr>
          <p:cNvSpPr txBox="1"/>
          <p:nvPr/>
        </p:nvSpPr>
        <p:spPr>
          <a:xfrm>
            <a:off x="3264076" y="3637105"/>
            <a:ext cx="945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Wait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911B0882-E99E-65AC-ED26-B7D86DBF8C53}"/>
              </a:ext>
            </a:extLst>
          </p:cNvPr>
          <p:cNvSpPr txBox="1"/>
          <p:nvPr/>
        </p:nvSpPr>
        <p:spPr>
          <a:xfrm>
            <a:off x="8066348" y="2650542"/>
            <a:ext cx="945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B050"/>
                </a:solidFill>
              </a:rPr>
              <a:t>Granted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019EF7EF-B962-E09E-3299-76E30FFA0C51}"/>
              </a:ext>
            </a:extLst>
          </p:cNvPr>
          <p:cNvSpPr txBox="1"/>
          <p:nvPr/>
        </p:nvSpPr>
        <p:spPr>
          <a:xfrm>
            <a:off x="8066348" y="4214503"/>
            <a:ext cx="945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Wait</a:t>
            </a:r>
          </a:p>
        </p:txBody>
      </p:sp>
    </p:spTree>
    <p:extLst>
      <p:ext uri="{BB962C8B-B14F-4D97-AF65-F5344CB8AC3E}">
        <p14:creationId xmlns:p14="http://schemas.microsoft.com/office/powerpoint/2010/main" val="1635604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0" grpId="0"/>
      <p:bldP spid="11" grpId="0"/>
      <p:bldP spid="13" grpId="0"/>
      <p:bldP spid="15" grpId="0"/>
      <p:bldP spid="21" grpId="0"/>
      <p:bldP spid="22" grpId="0"/>
      <p:bldP spid="23" grpId="0"/>
      <p:bldP spid="2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9CEFDC6C-CEEB-A3D4-F712-F922A5666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 Deadlock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3F61D8D-FCAA-9A60-9D81-B64DA66A1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21" y="2064622"/>
            <a:ext cx="11456758" cy="272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081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6B9C2-0D65-2EA7-F655-F137CFAB0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8668E183-D5F2-A8B2-64E9-68CD09B5B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 Deadlock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936AAD6-F94C-076B-D190-7BD3B6ECA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181" y="1700213"/>
            <a:ext cx="4465637" cy="446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874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B21265-7CAE-F1D3-2FF8-82B4D34EE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Prevent “classic” Deadlocks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957BB4-9842-E2FB-C783-7E168307A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Usage of same call stack (order of executions)</a:t>
            </a:r>
          </a:p>
          <a:p>
            <a:r>
              <a:rPr lang="en-US" dirty="0"/>
              <a:t>Acquire a lock before we start the process</a:t>
            </a:r>
          </a:p>
          <a:p>
            <a:pPr lvl="1"/>
            <a:r>
              <a:rPr lang="en-US" dirty="0"/>
              <a:t>UPDLOCK</a:t>
            </a:r>
          </a:p>
          <a:p>
            <a:pPr lvl="1"/>
            <a:r>
              <a:rPr lang="en-US" dirty="0"/>
              <a:t>HOLDLOCK (</a:t>
            </a:r>
            <a:r>
              <a:rPr lang="en-US" b="1" dirty="0">
                <a:solidFill>
                  <a:srgbClr val="FF0000"/>
                </a:solidFill>
              </a:rPr>
              <a:t>Isolation Level Serializable!</a:t>
            </a:r>
            <a:r>
              <a:rPr lang="en-US" dirty="0"/>
              <a:t>)</a:t>
            </a:r>
          </a:p>
          <a:p>
            <a:r>
              <a:rPr lang="en-US" dirty="0"/>
              <a:t>Change the isolation level to REPEATABLE READ to prevent other locks on the resource!</a:t>
            </a:r>
          </a:p>
          <a:p>
            <a:r>
              <a:rPr lang="en-US" dirty="0"/>
              <a:t>Hold required rows from the additional resource in a temporary object</a:t>
            </a:r>
          </a:p>
        </p:txBody>
      </p:sp>
    </p:spTree>
    <p:extLst>
      <p:ext uri="{BB962C8B-B14F-4D97-AF65-F5344CB8AC3E}">
        <p14:creationId xmlns:p14="http://schemas.microsoft.com/office/powerpoint/2010/main" val="37637410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0A8FF-CBE5-A1AA-95CD-5C2738C5C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BB34141-9373-186C-189C-B7886447FF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Foreign Key Deadlock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E59F0EE6-EEC4-C224-B7F0-DBF9A0B4A1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tabLst>
                <a:tab pos="2393891" algn="l"/>
              </a:tabLst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47074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AFCD9B-6957-0B9D-2964-07A0E3DA6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Foreign Key Deadlock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0F970DA1-3295-3AE2-DB13-A893A4DE4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31194"/>
              </p:ext>
            </p:extLst>
          </p:nvPr>
        </p:nvGraphicFramePr>
        <p:xfrm>
          <a:off x="1058959" y="2636838"/>
          <a:ext cx="356780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2056">
                  <a:extLst>
                    <a:ext uri="{9D8B030D-6E8A-4147-A177-3AD203B41FA5}">
                      <a16:colId xmlns:a16="http://schemas.microsoft.com/office/drawing/2014/main" val="1684396349"/>
                    </a:ext>
                  </a:extLst>
                </a:gridCol>
                <a:gridCol w="1235404">
                  <a:extLst>
                    <a:ext uri="{9D8B030D-6E8A-4147-A177-3AD203B41FA5}">
                      <a16:colId xmlns:a16="http://schemas.microsoft.com/office/drawing/2014/main" val="1213706577"/>
                    </a:ext>
                  </a:extLst>
                </a:gridCol>
                <a:gridCol w="1160342">
                  <a:extLst>
                    <a:ext uri="{9D8B030D-6E8A-4147-A177-3AD203B41FA5}">
                      <a16:colId xmlns:a16="http://schemas.microsoft.com/office/drawing/2014/main" val="3077172326"/>
                    </a:ext>
                  </a:extLst>
                </a:gridCol>
              </a:tblGrid>
              <a:tr h="188729">
                <a:tc gridSpan="3">
                  <a:txBody>
                    <a:bodyPr/>
                    <a:lstStyle/>
                    <a:p>
                      <a:r>
                        <a:rPr lang="de-DE" sz="1200" dirty="0"/>
                        <a:t>dbo.customers</a:t>
                      </a:r>
                      <a:endParaRPr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815010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c_custkey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c_name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c_nationkey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680422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Customer0001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985555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Customer0002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219787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Customer0003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208050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Customer0004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1224182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customer0005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928733"/>
                  </a:ext>
                </a:extLst>
              </a:tr>
            </a:tbl>
          </a:graphicData>
        </a:graphic>
      </p:graphicFrame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C86BAEF0-2ED4-29FE-7240-AA11C5CB72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74785"/>
              </p:ext>
            </p:extLst>
          </p:nvPr>
        </p:nvGraphicFramePr>
        <p:xfrm>
          <a:off x="7565241" y="2641471"/>
          <a:ext cx="3394367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4746">
                  <a:extLst>
                    <a:ext uri="{9D8B030D-6E8A-4147-A177-3AD203B41FA5}">
                      <a16:colId xmlns:a16="http://schemas.microsoft.com/office/drawing/2014/main" val="454890317"/>
                    </a:ext>
                  </a:extLst>
                </a:gridCol>
                <a:gridCol w="1090359">
                  <a:extLst>
                    <a:ext uri="{9D8B030D-6E8A-4147-A177-3AD203B41FA5}">
                      <a16:colId xmlns:a16="http://schemas.microsoft.com/office/drawing/2014/main" val="1684396349"/>
                    </a:ext>
                  </a:extLst>
                </a:gridCol>
                <a:gridCol w="1093888">
                  <a:extLst>
                    <a:ext uri="{9D8B030D-6E8A-4147-A177-3AD203B41FA5}">
                      <a16:colId xmlns:a16="http://schemas.microsoft.com/office/drawing/2014/main" val="1213706577"/>
                    </a:ext>
                  </a:extLst>
                </a:gridCol>
                <a:gridCol w="635374">
                  <a:extLst>
                    <a:ext uri="{9D8B030D-6E8A-4147-A177-3AD203B41FA5}">
                      <a16:colId xmlns:a16="http://schemas.microsoft.com/office/drawing/2014/main" val="2064595436"/>
                    </a:ext>
                  </a:extLst>
                </a:gridCol>
              </a:tblGrid>
              <a:tr h="213662">
                <a:tc gridSpan="4">
                  <a:txBody>
                    <a:bodyPr/>
                    <a:lstStyle/>
                    <a:p>
                      <a:r>
                        <a:rPr lang="en-US" sz="1200" dirty="0"/>
                        <a:t>dbo.nations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815010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r>
                        <a:rPr lang="en-US" sz="1200" b="1" dirty="0"/>
                        <a:t>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n_nationkey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n_name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req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680422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Algeria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985555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219787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Germany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208050"/>
                  </a:ext>
                </a:extLst>
              </a:tr>
            </a:tbl>
          </a:graphicData>
        </a:graphic>
      </p:graphicFrame>
      <p:sp>
        <p:nvSpPr>
          <p:cNvPr id="5" name="Rechteck 4">
            <a:extLst>
              <a:ext uri="{FF2B5EF4-FFF2-40B4-BE49-F238E27FC236}">
                <a16:creationId xmlns:a16="http://schemas.microsoft.com/office/drawing/2014/main" id="{AAC5B6EA-BCDF-B562-CAC6-B34C3C4A5C2E}"/>
              </a:ext>
            </a:extLst>
          </p:cNvPr>
          <p:cNvSpPr/>
          <p:nvPr/>
        </p:nvSpPr>
        <p:spPr>
          <a:xfrm>
            <a:off x="9017000" y="2904065"/>
            <a:ext cx="1100667" cy="270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DBBA12B-CE7B-572E-9046-89C515613F5C}"/>
              </a:ext>
            </a:extLst>
          </p:cNvPr>
          <p:cNvSpPr/>
          <p:nvPr/>
        </p:nvSpPr>
        <p:spPr>
          <a:xfrm>
            <a:off x="2842860" y="2904065"/>
            <a:ext cx="1146721" cy="270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2F27661B-6A98-8B96-CBCB-528FB6BBCEA6}"/>
              </a:ext>
            </a:extLst>
          </p:cNvPr>
          <p:cNvSpPr txBox="1"/>
          <p:nvPr/>
        </p:nvSpPr>
        <p:spPr>
          <a:xfrm>
            <a:off x="9418834" y="218758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F1357FA1-D82A-E57C-69C4-D3C34C023963}"/>
              </a:ext>
            </a:extLst>
          </p:cNvPr>
          <p:cNvSpPr txBox="1"/>
          <p:nvPr/>
        </p:nvSpPr>
        <p:spPr>
          <a:xfrm>
            <a:off x="3330389" y="2187589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</a:t>
            </a:r>
          </a:p>
        </p:txBody>
      </p:sp>
      <p:sp>
        <p:nvSpPr>
          <p:cNvPr id="17" name="Pfeil: nach links 16">
            <a:extLst>
              <a:ext uri="{FF2B5EF4-FFF2-40B4-BE49-F238E27FC236}">
                <a16:creationId xmlns:a16="http://schemas.microsoft.com/office/drawing/2014/main" id="{1948FD9D-BFFD-728D-4637-D2A8CA1062A3}"/>
              </a:ext>
            </a:extLst>
          </p:cNvPr>
          <p:cNvSpPr/>
          <p:nvPr/>
        </p:nvSpPr>
        <p:spPr>
          <a:xfrm>
            <a:off x="4626760" y="2956782"/>
            <a:ext cx="2938481" cy="52060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1 - n</a:t>
            </a:r>
          </a:p>
        </p:txBody>
      </p:sp>
    </p:spTree>
    <p:extLst>
      <p:ext uri="{BB962C8B-B14F-4D97-AF65-F5344CB8AC3E}">
        <p14:creationId xmlns:p14="http://schemas.microsoft.com/office/powerpoint/2010/main" val="6057231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BCE76-0E49-F636-C707-42E62CB0E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5D7D68-B2C5-8402-EBA0-135753D46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Foreign Key Deadlock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0F0F8F0-F71E-C295-E167-59B95AA8E5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1665287"/>
            <a:ext cx="3114135" cy="12930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update_customers</a:t>
            </a:r>
            <a:r>
              <a:rPr lang="en-US" sz="11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b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b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 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US" sz="11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customers</a:t>
            </a:r>
            <a:b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   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c_name </a:t>
            </a:r>
            <a:r>
              <a:rPr lang="en-US" sz="11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'Uwe’</a:t>
            </a:r>
            <a:r>
              <a:rPr lang="en-US" sz="11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br>
              <a:rPr lang="en-US" sz="11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1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c_nationkey </a:t>
            </a:r>
            <a:r>
              <a:rPr lang="en-US" sz="11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99</a:t>
            </a:r>
            <a:b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 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c_custkey </a:t>
            </a:r>
            <a:r>
              <a:rPr lang="en-US" sz="11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3</a:t>
            </a:r>
            <a:r>
              <a:rPr lang="en-US" sz="11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11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179243C-9CA8-AD7F-92DE-F931A7EC2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83108" y="2635994"/>
            <a:ext cx="2873532" cy="970706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358775" algn="l"/>
              </a:tabLst>
            </a:pP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BEGIN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TRANSACTION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update_nations</a:t>
            </a:r>
            <a:b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b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DELETE</a:t>
            </a:r>
            <a:r>
              <a:rPr lang="en-US" sz="11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US" sz="11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nations</a:t>
            </a:r>
            <a:b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  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n_nationkey </a:t>
            </a:r>
            <a:r>
              <a:rPr lang="en-US" sz="11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99</a:t>
            </a:r>
            <a:r>
              <a:rPr lang="en-US" sz="11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1100" dirty="0">
              <a:latin typeface="Lucida Console" panose="020B0609040504020204" pitchFamily="49" charset="0"/>
            </a:endParaRP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A08A5F37-D92D-D4B8-003E-D972B3048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2486416"/>
              </p:ext>
            </p:extLst>
          </p:nvPr>
        </p:nvGraphicFramePr>
        <p:xfrm>
          <a:off x="4441765" y="1716865"/>
          <a:ext cx="330846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248">
                  <a:extLst>
                    <a:ext uri="{9D8B030D-6E8A-4147-A177-3AD203B41FA5}">
                      <a16:colId xmlns:a16="http://schemas.microsoft.com/office/drawing/2014/main" val="2562181325"/>
                    </a:ext>
                  </a:extLst>
                </a:gridCol>
                <a:gridCol w="899859">
                  <a:extLst>
                    <a:ext uri="{9D8B030D-6E8A-4147-A177-3AD203B41FA5}">
                      <a16:colId xmlns:a16="http://schemas.microsoft.com/office/drawing/2014/main" val="1684396349"/>
                    </a:ext>
                  </a:extLst>
                </a:gridCol>
                <a:gridCol w="1202436">
                  <a:extLst>
                    <a:ext uri="{9D8B030D-6E8A-4147-A177-3AD203B41FA5}">
                      <a16:colId xmlns:a16="http://schemas.microsoft.com/office/drawing/2014/main" val="1213706577"/>
                    </a:ext>
                  </a:extLst>
                </a:gridCol>
                <a:gridCol w="636926">
                  <a:extLst>
                    <a:ext uri="{9D8B030D-6E8A-4147-A177-3AD203B41FA5}">
                      <a16:colId xmlns:a16="http://schemas.microsoft.com/office/drawing/2014/main" val="3077172326"/>
                    </a:ext>
                  </a:extLst>
                </a:gridCol>
              </a:tblGrid>
              <a:tr h="188729">
                <a:tc gridSpan="4">
                  <a:txBody>
                    <a:bodyPr/>
                    <a:lstStyle/>
                    <a:p>
                      <a:r>
                        <a:rPr lang="en-US" sz="1200" dirty="0"/>
                        <a:t>dbo.customers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815010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r>
                        <a:rPr lang="en-US" sz="1200" b="1" dirty="0"/>
                        <a:t>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c_custkey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c_name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lock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680422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Customer0001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985555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Customer0002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219787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Customer0003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208050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Customer0004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1224182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customer0005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928733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E2B76C67-458E-38F1-58C4-2B801878C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120883"/>
              </p:ext>
            </p:extLst>
          </p:nvPr>
        </p:nvGraphicFramePr>
        <p:xfrm>
          <a:off x="4441765" y="3958721"/>
          <a:ext cx="3308467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7681">
                  <a:extLst>
                    <a:ext uri="{9D8B030D-6E8A-4147-A177-3AD203B41FA5}">
                      <a16:colId xmlns:a16="http://schemas.microsoft.com/office/drawing/2014/main" val="454890317"/>
                    </a:ext>
                  </a:extLst>
                </a:gridCol>
                <a:gridCol w="1152841">
                  <a:extLst>
                    <a:ext uri="{9D8B030D-6E8A-4147-A177-3AD203B41FA5}">
                      <a16:colId xmlns:a16="http://schemas.microsoft.com/office/drawing/2014/main" val="1684396349"/>
                    </a:ext>
                  </a:extLst>
                </a:gridCol>
                <a:gridCol w="892196">
                  <a:extLst>
                    <a:ext uri="{9D8B030D-6E8A-4147-A177-3AD203B41FA5}">
                      <a16:colId xmlns:a16="http://schemas.microsoft.com/office/drawing/2014/main" val="1213706577"/>
                    </a:ext>
                  </a:extLst>
                </a:gridCol>
                <a:gridCol w="655749">
                  <a:extLst>
                    <a:ext uri="{9D8B030D-6E8A-4147-A177-3AD203B41FA5}">
                      <a16:colId xmlns:a16="http://schemas.microsoft.com/office/drawing/2014/main" val="2064595436"/>
                    </a:ext>
                  </a:extLst>
                </a:gridCol>
              </a:tblGrid>
              <a:tr h="213662">
                <a:tc gridSpan="4">
                  <a:txBody>
                    <a:bodyPr/>
                    <a:lstStyle/>
                    <a:p>
                      <a:r>
                        <a:rPr lang="en-US" sz="1200" dirty="0"/>
                        <a:t>dbo.nations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815010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r>
                        <a:rPr lang="en-US" sz="1200" b="1" dirty="0"/>
                        <a:t>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n_nationkey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n_name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lock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680422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Algeria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985555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219787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Germany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208050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180634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1892041"/>
                  </a:ext>
                </a:extLst>
              </a:tr>
            </a:tbl>
          </a:graphicData>
        </a:graphic>
      </p:graphicFrame>
      <p:sp>
        <p:nvSpPr>
          <p:cNvPr id="10" name="Textfeld 9">
            <a:extLst>
              <a:ext uri="{FF2B5EF4-FFF2-40B4-BE49-F238E27FC236}">
                <a16:creationId xmlns:a16="http://schemas.microsoft.com/office/drawing/2014/main" id="{C06FCB68-F17C-D0D9-A71F-D2F51A0D7337}"/>
              </a:ext>
            </a:extLst>
          </p:cNvPr>
          <p:cNvSpPr txBox="1"/>
          <p:nvPr/>
        </p:nvSpPr>
        <p:spPr>
          <a:xfrm>
            <a:off x="7264053" y="5580388"/>
            <a:ext cx="2856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X</a:t>
            </a:r>
            <a:endParaRPr lang="en-US" sz="120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FB4F726-BF1B-9A58-B1A4-E20BE43789A8}"/>
              </a:ext>
            </a:extLst>
          </p:cNvPr>
          <p:cNvSpPr txBox="1"/>
          <p:nvPr/>
        </p:nvSpPr>
        <p:spPr>
          <a:xfrm>
            <a:off x="4568325" y="2804431"/>
            <a:ext cx="2856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X</a:t>
            </a:r>
            <a:endParaRPr lang="en-US" sz="1200" dirty="0"/>
          </a:p>
        </p:txBody>
      </p:sp>
      <p:sp>
        <p:nvSpPr>
          <p:cNvPr id="12" name="Inhaltsplatzhalter 3">
            <a:extLst>
              <a:ext uri="{FF2B5EF4-FFF2-40B4-BE49-F238E27FC236}">
                <a16:creationId xmlns:a16="http://schemas.microsoft.com/office/drawing/2014/main" id="{2EC88748-7167-1B68-D527-4E4C592E1C59}"/>
              </a:ext>
            </a:extLst>
          </p:cNvPr>
          <p:cNvSpPr txBox="1">
            <a:spLocks/>
          </p:cNvSpPr>
          <p:nvPr/>
        </p:nvSpPr>
        <p:spPr>
          <a:xfrm>
            <a:off x="335360" y="3608388"/>
            <a:ext cx="3114135" cy="516882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>
            <a:lvl1pPr marL="228578" indent="-228578" algn="l" defTabSz="914309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34" indent="-228578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86" indent="-228578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40" indent="-228578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95" indent="-228578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49" indent="-228578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04" indent="-228578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658" indent="-228578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14" indent="-228578" algn="l" defTabSz="914309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tabLst>
                <a:tab pos="358775" algn="l"/>
              </a:tabLst>
            </a:pPr>
            <a:r>
              <a:rPr lang="en-US" sz="11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</a:t>
            </a:r>
            <a:r>
              <a:rPr lang="en-US" sz="11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11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1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dbo.nations</a:t>
            </a:r>
            <a:br>
              <a:rPr lang="en-US" sz="11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1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1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1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100" dirty="0">
                <a:highlight>
                  <a:srgbClr val="FFFFFF"/>
                </a:highlight>
                <a:latin typeface="Cascadia Mono" panose="020B0609020000020004" pitchFamily="49" charset="0"/>
              </a:rPr>
              <a:t>n_nationkey = 99;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A23B6E0-3262-F4C4-B91C-9CF9C7F67529}"/>
              </a:ext>
            </a:extLst>
          </p:cNvPr>
          <p:cNvSpPr txBox="1"/>
          <p:nvPr/>
        </p:nvSpPr>
        <p:spPr>
          <a:xfrm>
            <a:off x="4562922" y="5580387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</a:rPr>
              <a:t>S</a:t>
            </a:r>
            <a:endParaRPr lang="en-US" sz="1200" dirty="0">
              <a:solidFill>
                <a:srgbClr val="00B050"/>
              </a:solidFill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F31A906E-3956-C201-8790-411AE0116488}"/>
              </a:ext>
            </a:extLst>
          </p:cNvPr>
          <p:cNvSpPr txBox="1"/>
          <p:nvPr/>
        </p:nvSpPr>
        <p:spPr>
          <a:xfrm>
            <a:off x="7264053" y="2804431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strike="sngStrike" dirty="0">
                <a:solidFill>
                  <a:srgbClr val="00B050"/>
                </a:solidFill>
              </a:rPr>
              <a:t>S</a:t>
            </a:r>
            <a:endParaRPr lang="en-US" sz="1200" strike="sngStrike" dirty="0">
              <a:solidFill>
                <a:srgbClr val="00B050"/>
              </a:solidFill>
            </a:endParaRP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90D0AD7D-56D5-7953-C7F6-DA0343DD795E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>
            <a:off x="3449495" y="2311803"/>
            <a:ext cx="1118830" cy="63112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6D4E0249-4B85-92D0-5B9E-8984E77F5219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7549709" y="3946409"/>
            <a:ext cx="1433399" cy="177247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D8F6E46A-16B0-C02B-0233-8F41A40114DD}"/>
              </a:ext>
            </a:extLst>
          </p:cNvPr>
          <p:cNvCxnSpPr>
            <a:cxnSpLocks/>
            <a:stCxn id="4" idx="3"/>
            <a:endCxn id="13" idx="1"/>
          </p:cNvCxnSpPr>
          <p:nvPr/>
        </p:nvCxnSpPr>
        <p:spPr>
          <a:xfrm>
            <a:off x="3449495" y="2311803"/>
            <a:ext cx="1113427" cy="340708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37A76C16-8043-9784-4131-842AE592A4D2}"/>
              </a:ext>
            </a:extLst>
          </p:cNvPr>
          <p:cNvCxnSpPr>
            <a:cxnSpLocks/>
            <a:stCxn id="10" idx="3"/>
            <a:endCxn id="15" idx="3"/>
          </p:cNvCxnSpPr>
          <p:nvPr/>
        </p:nvCxnSpPr>
        <p:spPr>
          <a:xfrm flipH="1" flipV="1">
            <a:off x="7535281" y="2942931"/>
            <a:ext cx="14428" cy="277595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feld 20">
            <a:extLst>
              <a:ext uri="{FF2B5EF4-FFF2-40B4-BE49-F238E27FC236}">
                <a16:creationId xmlns:a16="http://schemas.microsoft.com/office/drawing/2014/main" id="{6DBC62E9-A30C-66AD-10FC-E0616FD663D5}"/>
              </a:ext>
            </a:extLst>
          </p:cNvPr>
          <p:cNvSpPr txBox="1"/>
          <p:nvPr/>
        </p:nvSpPr>
        <p:spPr>
          <a:xfrm>
            <a:off x="3472663" y="2804431"/>
            <a:ext cx="945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B050"/>
                </a:solidFill>
              </a:rPr>
              <a:t>Granted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691822B5-E473-C688-9AF7-241593BC2A82}"/>
              </a:ext>
            </a:extLst>
          </p:cNvPr>
          <p:cNvSpPr txBox="1"/>
          <p:nvPr/>
        </p:nvSpPr>
        <p:spPr>
          <a:xfrm>
            <a:off x="3472663" y="5549610"/>
            <a:ext cx="945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B050"/>
                </a:solidFill>
              </a:rPr>
              <a:t>Granted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FDD3A1D9-74BF-67E7-B81F-D2CE3A1239A8}"/>
              </a:ext>
            </a:extLst>
          </p:cNvPr>
          <p:cNvSpPr txBox="1"/>
          <p:nvPr/>
        </p:nvSpPr>
        <p:spPr>
          <a:xfrm>
            <a:off x="7677057" y="2804431"/>
            <a:ext cx="945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Wait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E18BDB59-BCB7-0CA8-0431-83117F1B6717}"/>
              </a:ext>
            </a:extLst>
          </p:cNvPr>
          <p:cNvSpPr txBox="1"/>
          <p:nvPr/>
        </p:nvSpPr>
        <p:spPr>
          <a:xfrm>
            <a:off x="7789376" y="5571184"/>
            <a:ext cx="945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B050"/>
                </a:solidFill>
              </a:rPr>
              <a:t>Granted</a:t>
            </a:r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47E94158-B3FD-1CCB-89A5-52E7568BFBA2}"/>
              </a:ext>
            </a:extLst>
          </p:cNvPr>
          <p:cNvCxnSpPr>
            <a:cxnSpLocks/>
            <a:stCxn id="12" idx="3"/>
            <a:endCxn id="37" idx="1"/>
          </p:cNvCxnSpPr>
          <p:nvPr/>
        </p:nvCxnSpPr>
        <p:spPr>
          <a:xfrm>
            <a:off x="3449495" y="3866829"/>
            <a:ext cx="1113427" cy="185205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feld 35">
            <a:extLst>
              <a:ext uri="{FF2B5EF4-FFF2-40B4-BE49-F238E27FC236}">
                <a16:creationId xmlns:a16="http://schemas.microsoft.com/office/drawing/2014/main" id="{9BDB97B6-C70E-02CF-CF78-A54CFB700C88}"/>
              </a:ext>
            </a:extLst>
          </p:cNvPr>
          <p:cNvSpPr txBox="1"/>
          <p:nvPr/>
        </p:nvSpPr>
        <p:spPr>
          <a:xfrm>
            <a:off x="3472663" y="5165997"/>
            <a:ext cx="9459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Wait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C75DAA94-646A-91A7-02F7-D8839ACE2B3D}"/>
              </a:ext>
            </a:extLst>
          </p:cNvPr>
          <p:cNvSpPr txBox="1"/>
          <p:nvPr/>
        </p:nvSpPr>
        <p:spPr>
          <a:xfrm>
            <a:off x="4562922" y="5580387"/>
            <a:ext cx="271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70185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build="p"/>
      <p:bldP spid="10" grpId="0"/>
      <p:bldP spid="11" grpId="0"/>
      <p:bldP spid="12" grpId="0"/>
      <p:bldP spid="13" grpId="0"/>
      <p:bldP spid="13" grpId="1"/>
      <p:bldP spid="15" grpId="0"/>
      <p:bldP spid="21" grpId="0"/>
      <p:bldP spid="23" grpId="0"/>
      <p:bldP spid="23" grpId="1"/>
      <p:bldP spid="24" grpId="0"/>
      <p:bldP spid="32" grpId="0"/>
      <p:bldP spid="36" grpId="0"/>
      <p:bldP spid="3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32B7E-074D-5890-4ACC-47D5EFADC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A28113E-C100-5AED-7DB8-802C728A3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Foreign Key Deadlock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84A8FC8-D894-83A8-92DC-E2B4C6E93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55" y="1676155"/>
            <a:ext cx="11574490" cy="350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6120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6B9C2-0D65-2EA7-F655-F137CFAB0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8668E183-D5F2-A8B2-64E9-68CD09B5B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Foreign Key Deadlock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936AAD6-F94C-076B-D190-7BD3B6ECA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181" y="1700213"/>
            <a:ext cx="4465637" cy="446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433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46E6E-C787-B574-BCA3-CAE50A8B6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FF60B7-FD0C-F99E-EC38-77B2CA136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Prevent “Foreign Key” Deadlocks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C02D4E-39D1-E3AA-3D93-172CD3F84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Acquire a lock before we start the process</a:t>
            </a:r>
          </a:p>
          <a:p>
            <a:pPr lvl="1"/>
            <a:r>
              <a:rPr lang="en-US" dirty="0"/>
              <a:t>UPDLOCK</a:t>
            </a:r>
          </a:p>
          <a:p>
            <a:pPr lvl="1"/>
            <a:r>
              <a:rPr lang="en-US" dirty="0"/>
              <a:t>HOLDLOCK (</a:t>
            </a:r>
            <a:r>
              <a:rPr lang="en-US" b="1" dirty="0">
                <a:solidFill>
                  <a:srgbClr val="FF0000"/>
                </a:solidFill>
              </a:rPr>
              <a:t>Isolation Level Serializable!</a:t>
            </a:r>
            <a:r>
              <a:rPr lang="en-US" dirty="0"/>
              <a:t>)</a:t>
            </a:r>
          </a:p>
          <a:p>
            <a:r>
              <a:rPr lang="en-US" dirty="0"/>
              <a:t>Hold required rows from the additional resource in a temporary object</a:t>
            </a:r>
          </a:p>
        </p:txBody>
      </p:sp>
    </p:spTree>
    <p:extLst>
      <p:ext uri="{BB962C8B-B14F-4D97-AF65-F5344CB8AC3E}">
        <p14:creationId xmlns:p14="http://schemas.microsoft.com/office/powerpoint/2010/main" val="32644592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8E130-D2F3-D96A-2E1B-932735291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3F2AC02-E0A2-0B04-9330-786DBAA27D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Deadlock with Bookmark/Key Lookup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783F1633-1E0E-23F5-769B-5743C695CF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tabLst>
                <a:tab pos="2393891" algn="l"/>
              </a:tabLst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436465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8644CE-860C-7C6E-6D1F-3D107B2C1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Deadlock with Bookmark/</a:t>
            </a:r>
            <a:r>
              <a:rPr lang="en-US"/>
              <a:t>Key Lookup</a:t>
            </a:r>
            <a:endParaRPr lang="en-US" dirty="0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F89EEBCF-74B1-A2AE-9538-7AE840B45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6691335"/>
              </p:ext>
            </p:extLst>
          </p:nvPr>
        </p:nvGraphicFramePr>
        <p:xfrm>
          <a:off x="3935073" y="1716865"/>
          <a:ext cx="5753257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225">
                  <a:extLst>
                    <a:ext uri="{9D8B030D-6E8A-4147-A177-3AD203B41FA5}">
                      <a16:colId xmlns:a16="http://schemas.microsoft.com/office/drawing/2014/main" val="2562181325"/>
                    </a:ext>
                  </a:extLst>
                </a:gridCol>
                <a:gridCol w="906147">
                  <a:extLst>
                    <a:ext uri="{9D8B030D-6E8A-4147-A177-3AD203B41FA5}">
                      <a16:colId xmlns:a16="http://schemas.microsoft.com/office/drawing/2014/main" val="1684396349"/>
                    </a:ext>
                  </a:extLst>
                </a:gridCol>
                <a:gridCol w="1210836">
                  <a:extLst>
                    <a:ext uri="{9D8B030D-6E8A-4147-A177-3AD203B41FA5}">
                      <a16:colId xmlns:a16="http://schemas.microsoft.com/office/drawing/2014/main" val="1213706577"/>
                    </a:ext>
                  </a:extLst>
                </a:gridCol>
                <a:gridCol w="1210836">
                  <a:extLst>
                    <a:ext uri="{9D8B030D-6E8A-4147-A177-3AD203B41FA5}">
                      <a16:colId xmlns:a16="http://schemas.microsoft.com/office/drawing/2014/main" val="1058491374"/>
                    </a:ext>
                  </a:extLst>
                </a:gridCol>
                <a:gridCol w="1210836">
                  <a:extLst>
                    <a:ext uri="{9D8B030D-6E8A-4147-A177-3AD203B41FA5}">
                      <a16:colId xmlns:a16="http://schemas.microsoft.com/office/drawing/2014/main" val="428986373"/>
                    </a:ext>
                  </a:extLst>
                </a:gridCol>
                <a:gridCol w="641377">
                  <a:extLst>
                    <a:ext uri="{9D8B030D-6E8A-4147-A177-3AD203B41FA5}">
                      <a16:colId xmlns:a16="http://schemas.microsoft.com/office/drawing/2014/main" val="3077172326"/>
                    </a:ext>
                  </a:extLst>
                </a:gridCol>
              </a:tblGrid>
              <a:tr h="188729">
                <a:tc gridSpan="6">
                  <a:txBody>
                    <a:bodyPr/>
                    <a:lstStyle/>
                    <a:p>
                      <a:r>
                        <a:rPr lang="en-US" sz="1200" dirty="0"/>
                        <a:t>dbo.process_status (HEAP)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815010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r>
                        <a:rPr lang="en-US" sz="1200" b="1" dirty="0"/>
                        <a:t>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scancode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ship_id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is_state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lock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680422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000000000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985555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000000001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6870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219787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000000001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208050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0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000000002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1224182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928733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4CB2A8F3-E55E-7AEF-453C-83927AA140C3}"/>
              </a:ext>
            </a:extLst>
          </p:cNvPr>
          <p:cNvSpPr txBox="1"/>
          <p:nvPr/>
        </p:nvSpPr>
        <p:spPr>
          <a:xfrm>
            <a:off x="3935075" y="3720661"/>
            <a:ext cx="57532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/* Create a nonclustered index on the predicate attributes */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CREATE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NONCLUSTERED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INDEX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nix_process_status_scancode_ship_id</a:t>
            </a:r>
          </a:p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ON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dbo</a:t>
            </a:r>
            <a:r>
              <a:rPr lang="en-US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process_status</a:t>
            </a:r>
          </a:p>
          <a:p>
            <a:r>
              <a:rPr lang="en-US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>
              <a:tabLst>
                <a:tab pos="360363" algn="l"/>
              </a:tabLs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scancode</a:t>
            </a:r>
            <a:r>
              <a:rPr lang="en-US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>
              <a:tabLst>
                <a:tab pos="360363" algn="l"/>
              </a:tabLst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ship_id</a:t>
            </a:r>
          </a:p>
          <a:p>
            <a:r>
              <a:rPr lang="en-US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GO</a:t>
            </a:r>
            <a:endParaRPr lang="en-US" sz="12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EE2942A8-B76D-65E0-A773-03F6DFF55FD8}"/>
              </a:ext>
            </a:extLst>
          </p:cNvPr>
          <p:cNvSpPr txBox="1"/>
          <p:nvPr/>
        </p:nvSpPr>
        <p:spPr>
          <a:xfrm>
            <a:off x="334966" y="1999068"/>
            <a:ext cx="29674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UPDATE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dbo</a:t>
            </a:r>
            <a:r>
              <a:rPr lang="en-US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process_status</a:t>
            </a:r>
          </a:p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istate </a:t>
            </a:r>
            <a:r>
              <a:rPr lang="en-US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1</a:t>
            </a:r>
          </a:p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scancode </a:t>
            </a:r>
            <a:r>
              <a:rPr lang="en-US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@scancode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AND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ship_id </a:t>
            </a:r>
            <a:r>
              <a:rPr lang="en-US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@ship_id</a:t>
            </a:r>
            <a:r>
              <a:rPr lang="en-US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1200" dirty="0"/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AC492C26-FDC5-B6F7-F1F9-8C0DF8E3D6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726754"/>
              </p:ext>
            </p:extLst>
          </p:nvPr>
        </p:nvGraphicFramePr>
        <p:xfrm>
          <a:off x="3935072" y="5290321"/>
          <a:ext cx="5753254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387">
                  <a:extLst>
                    <a:ext uri="{9D8B030D-6E8A-4147-A177-3AD203B41FA5}">
                      <a16:colId xmlns:a16="http://schemas.microsoft.com/office/drawing/2014/main" val="2562181325"/>
                    </a:ext>
                  </a:extLst>
                </a:gridCol>
                <a:gridCol w="1437196">
                  <a:extLst>
                    <a:ext uri="{9D8B030D-6E8A-4147-A177-3AD203B41FA5}">
                      <a16:colId xmlns:a16="http://schemas.microsoft.com/office/drawing/2014/main" val="1213706577"/>
                    </a:ext>
                  </a:extLst>
                </a:gridCol>
                <a:gridCol w="1437196">
                  <a:extLst>
                    <a:ext uri="{9D8B030D-6E8A-4147-A177-3AD203B41FA5}">
                      <a16:colId xmlns:a16="http://schemas.microsoft.com/office/drawing/2014/main" val="1058491374"/>
                    </a:ext>
                  </a:extLst>
                </a:gridCol>
                <a:gridCol w="1437196">
                  <a:extLst>
                    <a:ext uri="{9D8B030D-6E8A-4147-A177-3AD203B41FA5}">
                      <a16:colId xmlns:a16="http://schemas.microsoft.com/office/drawing/2014/main" val="428986373"/>
                    </a:ext>
                  </a:extLst>
                </a:gridCol>
                <a:gridCol w="761279">
                  <a:extLst>
                    <a:ext uri="{9D8B030D-6E8A-4147-A177-3AD203B41FA5}">
                      <a16:colId xmlns:a16="http://schemas.microsoft.com/office/drawing/2014/main" val="3077172326"/>
                    </a:ext>
                  </a:extLst>
                </a:gridCol>
              </a:tblGrid>
              <a:tr h="188729">
                <a:tc gridSpan="5">
                  <a:txBody>
                    <a:bodyPr/>
                    <a:lstStyle/>
                    <a:p>
                      <a:r>
                        <a:rPr lang="en-US" sz="1200" dirty="0"/>
                        <a:t>nix_process_status_scanncode_ship_id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815010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r>
                        <a:rPr lang="en-US" sz="1200" b="1" dirty="0"/>
                        <a:t>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scancode (key)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ship_id (key)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RID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lock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680422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000000000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985555"/>
                  </a:ext>
                </a:extLst>
              </a:tr>
            </a:tbl>
          </a:graphicData>
        </a:graphic>
      </p:graphicFrame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1EAF7EC5-79CA-D0D8-530B-DD117565E7D9}"/>
              </a:ext>
            </a:extLst>
          </p:cNvPr>
          <p:cNvCxnSpPr>
            <a:cxnSpLocks/>
            <a:stCxn id="6" idx="2"/>
            <a:endCxn id="7" idx="1"/>
          </p:cNvCxnSpPr>
          <p:nvPr/>
        </p:nvCxnSpPr>
        <p:spPr>
          <a:xfrm>
            <a:off x="1818706" y="2830065"/>
            <a:ext cx="2116366" cy="287173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906FD59B-B723-5D61-648C-B701B06E0936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3302445" y="2414567"/>
            <a:ext cx="632627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280E5E9B-53D5-03A1-37AC-61999CA7E0F3}"/>
              </a:ext>
            </a:extLst>
          </p:cNvPr>
          <p:cNvSpPr txBox="1"/>
          <p:nvPr/>
        </p:nvSpPr>
        <p:spPr>
          <a:xfrm>
            <a:off x="4046400" y="5820362"/>
            <a:ext cx="345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U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F5D7E69-4FE5-13F9-C62F-547A60DD7CE1}"/>
              </a:ext>
            </a:extLst>
          </p:cNvPr>
          <p:cNvSpPr txBox="1"/>
          <p:nvPr/>
        </p:nvSpPr>
        <p:spPr>
          <a:xfrm>
            <a:off x="4046400" y="2276066"/>
            <a:ext cx="345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939206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6B9C2-0D65-2EA7-F655-F137CFAB0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8668E183-D5F2-A8B2-64E9-68CD09B5B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 Key Deadlock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936AAD6-F94C-076B-D190-7BD3B6ECA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181" y="1700213"/>
            <a:ext cx="4465637" cy="446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190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C26509-BDBA-22D7-ABE2-EF62F3ABD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Serializable Transaction Deadlocks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F762B867-88F6-94E3-D039-529992F25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19412"/>
              </p:ext>
            </p:extLst>
          </p:nvPr>
        </p:nvGraphicFramePr>
        <p:xfrm>
          <a:off x="4441765" y="2277519"/>
          <a:ext cx="330846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248">
                  <a:extLst>
                    <a:ext uri="{9D8B030D-6E8A-4147-A177-3AD203B41FA5}">
                      <a16:colId xmlns:a16="http://schemas.microsoft.com/office/drawing/2014/main" val="2562181325"/>
                    </a:ext>
                  </a:extLst>
                </a:gridCol>
                <a:gridCol w="899859">
                  <a:extLst>
                    <a:ext uri="{9D8B030D-6E8A-4147-A177-3AD203B41FA5}">
                      <a16:colId xmlns:a16="http://schemas.microsoft.com/office/drawing/2014/main" val="1684396349"/>
                    </a:ext>
                  </a:extLst>
                </a:gridCol>
                <a:gridCol w="1202436">
                  <a:extLst>
                    <a:ext uri="{9D8B030D-6E8A-4147-A177-3AD203B41FA5}">
                      <a16:colId xmlns:a16="http://schemas.microsoft.com/office/drawing/2014/main" val="1213706577"/>
                    </a:ext>
                  </a:extLst>
                </a:gridCol>
                <a:gridCol w="636926">
                  <a:extLst>
                    <a:ext uri="{9D8B030D-6E8A-4147-A177-3AD203B41FA5}">
                      <a16:colId xmlns:a16="http://schemas.microsoft.com/office/drawing/2014/main" val="3077172326"/>
                    </a:ext>
                  </a:extLst>
                </a:gridCol>
              </a:tblGrid>
              <a:tr h="188729">
                <a:tc gridSpan="4">
                  <a:txBody>
                    <a:bodyPr/>
                    <a:lstStyle/>
                    <a:p>
                      <a:r>
                        <a:rPr lang="en-US" sz="1200" dirty="0"/>
                        <a:t>dbo.customers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815010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r>
                        <a:rPr lang="en-US" sz="1200" b="1" dirty="0"/>
                        <a:t>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c_custkey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c_name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lock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680422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Customer0052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5985555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Customer0053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219787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Customer0054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208050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Customer0057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1224182"/>
                  </a:ext>
                </a:extLst>
              </a:tr>
              <a:tr h="188729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customer0058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928733"/>
                  </a:ext>
                </a:extLst>
              </a:tr>
            </a:tbl>
          </a:graphicData>
        </a:graphic>
      </p:graphicFrame>
      <p:sp>
        <p:nvSpPr>
          <p:cNvPr id="4" name="Textfeld 3">
            <a:extLst>
              <a:ext uri="{FF2B5EF4-FFF2-40B4-BE49-F238E27FC236}">
                <a16:creationId xmlns:a16="http://schemas.microsoft.com/office/drawing/2014/main" id="{3BBB3C78-A329-B635-4A15-65FA9E47308B}"/>
              </a:ext>
            </a:extLst>
          </p:cNvPr>
          <p:cNvSpPr txBox="1"/>
          <p:nvPr/>
        </p:nvSpPr>
        <p:spPr>
          <a:xfrm>
            <a:off x="334966" y="2089104"/>
            <a:ext cx="305724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EXISTS</a:t>
            </a:r>
          </a:p>
          <a:p>
            <a:r>
              <a:rPr lang="en-US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</a:p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SELECT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US" sz="12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demo_table</a:t>
            </a:r>
            <a:b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c_custkey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55</a:t>
            </a:r>
          </a:p>
          <a:p>
            <a:r>
              <a:rPr lang="en-US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80EE388-246C-62D9-8DA5-E667D0C8EA30}"/>
              </a:ext>
            </a:extLst>
          </p:cNvPr>
          <p:cNvSpPr txBox="1"/>
          <p:nvPr/>
        </p:nvSpPr>
        <p:spPr>
          <a:xfrm>
            <a:off x="4441765" y="3370943"/>
            <a:ext cx="565665" cy="2794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chemeClr val="accent6"/>
                </a:solidFill>
              </a:rPr>
              <a:t>RS-S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497F4DC-7E3D-ECBB-5A55-FC2B0E2B6A75}"/>
              </a:ext>
            </a:extLst>
          </p:cNvPr>
          <p:cNvSpPr txBox="1"/>
          <p:nvPr/>
        </p:nvSpPr>
        <p:spPr>
          <a:xfrm>
            <a:off x="4441765" y="3650343"/>
            <a:ext cx="565665" cy="2794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chemeClr val="accent6"/>
                </a:solidFill>
              </a:rPr>
              <a:t>RS-S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4EDCCC3-9DEC-C8ED-9D5E-FCADE101401D}"/>
              </a:ext>
            </a:extLst>
          </p:cNvPr>
          <p:cNvSpPr txBox="1"/>
          <p:nvPr/>
        </p:nvSpPr>
        <p:spPr>
          <a:xfrm>
            <a:off x="8249754" y="2089104"/>
            <a:ext cx="305724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EXISTS</a:t>
            </a:r>
          </a:p>
          <a:p>
            <a:r>
              <a:rPr lang="en-US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</a:p>
          <a:p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SELECT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*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FROM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US" sz="12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demo_table</a:t>
            </a:r>
            <a:b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WHERE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c_custkey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56</a:t>
            </a:r>
          </a:p>
          <a:p>
            <a:r>
              <a:rPr lang="en-US" sz="12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en-US" sz="12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2EC7102-7AAF-4E52-E6D9-D28E483BD633}"/>
              </a:ext>
            </a:extLst>
          </p:cNvPr>
          <p:cNvSpPr txBox="1"/>
          <p:nvPr/>
        </p:nvSpPr>
        <p:spPr>
          <a:xfrm>
            <a:off x="7116537" y="3364593"/>
            <a:ext cx="633698" cy="2794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chemeClr val="accent6"/>
                </a:solidFill>
              </a:rPr>
              <a:t>RS-S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8C23516-CD5C-4D25-1ADE-CF1C3F155207}"/>
              </a:ext>
            </a:extLst>
          </p:cNvPr>
          <p:cNvSpPr txBox="1"/>
          <p:nvPr/>
        </p:nvSpPr>
        <p:spPr>
          <a:xfrm>
            <a:off x="7116536" y="3643993"/>
            <a:ext cx="633697" cy="2794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chemeClr val="accent6"/>
                </a:solidFill>
              </a:rPr>
              <a:t>RS-S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7945E8B-BF90-E225-CD60-C77953F9B5D1}"/>
              </a:ext>
            </a:extLst>
          </p:cNvPr>
          <p:cNvSpPr txBox="1"/>
          <p:nvPr/>
        </p:nvSpPr>
        <p:spPr>
          <a:xfrm>
            <a:off x="4441765" y="3370943"/>
            <a:ext cx="565665" cy="2794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rgbClr val="FF0000"/>
                </a:solidFill>
              </a:rPr>
              <a:t>RI-N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DE713E3-53E4-3731-7DAB-EC8FAC8F696F}"/>
              </a:ext>
            </a:extLst>
          </p:cNvPr>
          <p:cNvSpPr txBox="1"/>
          <p:nvPr/>
        </p:nvSpPr>
        <p:spPr>
          <a:xfrm>
            <a:off x="4441765" y="3643993"/>
            <a:ext cx="565665" cy="2794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rgbClr val="FF0000"/>
                </a:solidFill>
              </a:rPr>
              <a:t>RI-N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8F1DC6A-849A-9FB9-5FFB-407ECF0A8245}"/>
              </a:ext>
            </a:extLst>
          </p:cNvPr>
          <p:cNvSpPr txBox="1"/>
          <p:nvPr/>
        </p:nvSpPr>
        <p:spPr>
          <a:xfrm>
            <a:off x="334966" y="3104767"/>
            <a:ext cx="350608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INSERT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INTO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dbo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demo_table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(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c_custkey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c_name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c_mktsegment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SELECT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c_custkey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c_name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c_mktsegment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FROM  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dbo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customers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WHERE 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c_custkey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=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55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;</a:t>
            </a:r>
            <a:endParaRPr lang="en-US" sz="1200" dirty="0">
              <a:solidFill>
                <a:srgbClr val="80808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A9426A9-9AF2-C70F-D6A1-105DD953F3B6}"/>
              </a:ext>
            </a:extLst>
          </p:cNvPr>
          <p:cNvSpPr txBox="1"/>
          <p:nvPr/>
        </p:nvSpPr>
        <p:spPr>
          <a:xfrm>
            <a:off x="8249753" y="3104766"/>
            <a:ext cx="350608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INSERT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INTO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dbo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demo_table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(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c_custkey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c_name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c_mktsegment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SELECT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c_custkey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c_name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      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c_mktsegment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FROM  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dbo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.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customers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Cascadia Mono" panose="020B06090200000200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   WHERE 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c_custkey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=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56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highlight>
                  <a:srgbClr val="FFFFFF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;</a:t>
            </a:r>
            <a:endParaRPr lang="en-US" sz="1200" dirty="0">
              <a:solidFill>
                <a:srgbClr val="80808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DEEDF349-9F1B-69F8-365A-82FACE15D686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392213" y="2596936"/>
            <a:ext cx="1049552" cy="91370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AD6EB34D-D222-6253-4EDB-0A22511A61DF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3392213" y="2596936"/>
            <a:ext cx="1049552" cy="119310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F97CE77D-12FA-69A4-27FB-4AA61B108A85}"/>
              </a:ext>
            </a:extLst>
          </p:cNvPr>
          <p:cNvCxnSpPr>
            <a:stCxn id="7" idx="1"/>
            <a:endCxn id="8" idx="3"/>
          </p:cNvCxnSpPr>
          <p:nvPr/>
        </p:nvCxnSpPr>
        <p:spPr>
          <a:xfrm flipH="1">
            <a:off x="7750235" y="2596936"/>
            <a:ext cx="499519" cy="90735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99777475-FB74-DA37-0DC0-339ACA00466E}"/>
              </a:ext>
            </a:extLst>
          </p:cNvPr>
          <p:cNvCxnSpPr>
            <a:stCxn id="7" idx="1"/>
          </p:cNvCxnSpPr>
          <p:nvPr/>
        </p:nvCxnSpPr>
        <p:spPr>
          <a:xfrm flipH="1">
            <a:off x="7750233" y="2596936"/>
            <a:ext cx="499521" cy="119310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E9C51349-524A-1EA7-AFC2-3A3668FA5A37}"/>
              </a:ext>
            </a:extLst>
          </p:cNvPr>
          <p:cNvCxnSpPr>
            <a:stCxn id="12" idx="3"/>
            <a:endCxn id="10" idx="1"/>
          </p:cNvCxnSpPr>
          <p:nvPr/>
        </p:nvCxnSpPr>
        <p:spPr>
          <a:xfrm flipV="1">
            <a:off x="3841054" y="3510643"/>
            <a:ext cx="600711" cy="28662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C5BEABC7-3CC3-08B9-50ED-FA0063D32A4C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 flipV="1">
            <a:off x="3841054" y="3797263"/>
            <a:ext cx="600711" cy="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feld 28">
            <a:extLst>
              <a:ext uri="{FF2B5EF4-FFF2-40B4-BE49-F238E27FC236}">
                <a16:creationId xmlns:a16="http://schemas.microsoft.com/office/drawing/2014/main" id="{1A8A3D37-CAFF-6D99-3588-540D72AD0A35}"/>
              </a:ext>
            </a:extLst>
          </p:cNvPr>
          <p:cNvSpPr txBox="1"/>
          <p:nvPr/>
        </p:nvSpPr>
        <p:spPr>
          <a:xfrm>
            <a:off x="3841053" y="3875794"/>
            <a:ext cx="6007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WAIT!</a:t>
            </a:r>
            <a:br>
              <a:rPr lang="en-US" sz="800" b="1" dirty="0">
                <a:solidFill>
                  <a:srgbClr val="FF0000"/>
                </a:solidFill>
              </a:rPr>
            </a:br>
            <a:r>
              <a:rPr lang="en-US" sz="800" b="1" dirty="0">
                <a:solidFill>
                  <a:srgbClr val="FF0000"/>
                </a:solidFill>
              </a:rPr>
              <a:t>convert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A140070E-0A80-F717-35AE-E7FDEEB9BAB0}"/>
              </a:ext>
            </a:extLst>
          </p:cNvPr>
          <p:cNvSpPr txBox="1"/>
          <p:nvPr/>
        </p:nvSpPr>
        <p:spPr>
          <a:xfrm>
            <a:off x="7116535" y="3364593"/>
            <a:ext cx="633697" cy="2794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rgbClr val="FF0000"/>
                </a:solidFill>
              </a:rPr>
              <a:t>RI-N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2220C9FB-2B04-51AD-0F84-4FF9CBFF08EF}"/>
              </a:ext>
            </a:extLst>
          </p:cNvPr>
          <p:cNvSpPr txBox="1"/>
          <p:nvPr/>
        </p:nvSpPr>
        <p:spPr>
          <a:xfrm>
            <a:off x="7116535" y="3637643"/>
            <a:ext cx="633697" cy="2794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rgbClr val="FF0000"/>
                </a:solidFill>
              </a:rPr>
              <a:t>RI-N</a:t>
            </a: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0AD53FD5-1FCA-6011-8926-1DA2600D1E57}"/>
              </a:ext>
            </a:extLst>
          </p:cNvPr>
          <p:cNvCxnSpPr>
            <a:stCxn id="13" idx="1"/>
            <a:endCxn id="31" idx="3"/>
          </p:cNvCxnSpPr>
          <p:nvPr/>
        </p:nvCxnSpPr>
        <p:spPr>
          <a:xfrm flipH="1" flipV="1">
            <a:off x="7750232" y="3777343"/>
            <a:ext cx="499521" cy="1992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4964C902-371C-B397-2D0C-FC1C24D8EBAF}"/>
              </a:ext>
            </a:extLst>
          </p:cNvPr>
          <p:cNvCxnSpPr>
            <a:stCxn id="13" idx="1"/>
            <a:endCxn id="30" idx="3"/>
          </p:cNvCxnSpPr>
          <p:nvPr/>
        </p:nvCxnSpPr>
        <p:spPr>
          <a:xfrm flipH="1" flipV="1">
            <a:off x="7750232" y="3504293"/>
            <a:ext cx="499521" cy="29297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feld 35">
            <a:extLst>
              <a:ext uri="{FF2B5EF4-FFF2-40B4-BE49-F238E27FC236}">
                <a16:creationId xmlns:a16="http://schemas.microsoft.com/office/drawing/2014/main" id="{097DE576-B2C4-D2AA-DE61-1808161390D7}"/>
              </a:ext>
            </a:extLst>
          </p:cNvPr>
          <p:cNvSpPr txBox="1"/>
          <p:nvPr/>
        </p:nvSpPr>
        <p:spPr>
          <a:xfrm>
            <a:off x="7750232" y="3872424"/>
            <a:ext cx="6007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WAIT!</a:t>
            </a:r>
            <a:br>
              <a:rPr lang="en-US" sz="800" b="1" dirty="0">
                <a:solidFill>
                  <a:srgbClr val="FF0000"/>
                </a:solidFill>
              </a:rPr>
            </a:br>
            <a:r>
              <a:rPr lang="en-US" sz="800" b="1" dirty="0">
                <a:solidFill>
                  <a:srgbClr val="FF0000"/>
                </a:solidFill>
              </a:rPr>
              <a:t>convert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B49F35D9-EEBD-2F86-016D-987E5D9C4451}"/>
              </a:ext>
            </a:extLst>
          </p:cNvPr>
          <p:cNvSpPr txBox="1"/>
          <p:nvPr/>
        </p:nvSpPr>
        <p:spPr>
          <a:xfrm>
            <a:off x="3932608" y="4867633"/>
            <a:ext cx="4317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DEADLOCK</a:t>
            </a:r>
          </a:p>
        </p:txBody>
      </p:sp>
    </p:spTree>
    <p:extLst>
      <p:ext uri="{BB962C8B-B14F-4D97-AF65-F5344CB8AC3E}">
        <p14:creationId xmlns:p14="http://schemas.microsoft.com/office/powerpoint/2010/main" val="1081571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5" grpId="1"/>
      <p:bldP spid="6" grpId="0"/>
      <p:bldP spid="6" grpId="1"/>
      <p:bldP spid="7" grpId="0"/>
      <p:bldP spid="8" grpId="0"/>
      <p:bldP spid="8" grpId="1"/>
      <p:bldP spid="9" grpId="0"/>
      <p:bldP spid="9" grpId="1"/>
      <p:bldP spid="10" grpId="0"/>
      <p:bldP spid="11" grpId="0"/>
      <p:bldP spid="12" grpId="0"/>
      <p:bldP spid="13" grpId="0"/>
      <p:bldP spid="29" grpId="0"/>
      <p:bldP spid="30" grpId="0"/>
      <p:bldP spid="31" grpId="0"/>
      <p:bldP spid="36" grpId="0"/>
      <p:bldP spid="3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Wand, drinnen, Person, essend enthält.&#10;&#10;Automatisch generierte Beschreibung">
            <a:extLst>
              <a:ext uri="{FF2B5EF4-FFF2-40B4-BE49-F238E27FC236}">
                <a16:creationId xmlns:a16="http://schemas.microsoft.com/office/drawing/2014/main" id="{B83979AF-EC4E-A3B7-5E7A-4742A3BCD4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025" y="1196975"/>
            <a:ext cx="3409950" cy="3429000"/>
          </a:xfrm>
          <a:prstGeom prst="rect">
            <a:avLst/>
          </a:prstGeom>
          <a:ln w="57150">
            <a:solidFill>
              <a:schemeClr val="tx1"/>
            </a:solidFill>
          </a:ln>
          <a:effectLst>
            <a:outerShdw blurRad="76200" dist="12700" dir="8100000" sy="-23000" kx="800400" algn="br" rotWithShape="0">
              <a:prstClr val="black">
                <a:alpha val="20000"/>
              </a:prstClr>
            </a:outerShdw>
          </a:effectLst>
        </p:spPr>
      </p:pic>
      <p:sp>
        <p:nvSpPr>
          <p:cNvPr id="2" name="Untertitel 2">
            <a:extLst>
              <a:ext uri="{FF2B5EF4-FFF2-40B4-BE49-F238E27FC236}">
                <a16:creationId xmlns:a16="http://schemas.microsoft.com/office/drawing/2014/main" id="{C397CE24-1561-012C-8144-0FD46600A04F}"/>
              </a:ext>
            </a:extLst>
          </p:cNvPr>
          <p:cNvSpPr txBox="1">
            <a:spLocks/>
          </p:cNvSpPr>
          <p:nvPr/>
        </p:nvSpPr>
        <p:spPr>
          <a:xfrm>
            <a:off x="344245" y="4870174"/>
            <a:ext cx="11510683" cy="743821"/>
          </a:xfrm>
          <a:prstGeom prst="rect">
            <a:avLst/>
          </a:prstGeom>
        </p:spPr>
        <p:txBody>
          <a:bodyPr/>
          <a:lstStyle>
            <a:lvl1pPr marL="228584" indent="-228584" algn="l" defTabSz="91433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5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1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8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47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12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8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1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dirty="0">
                <a:hlinkClick r:id="rId3"/>
              </a:rPr>
              <a:t>https://github.com/db-berater/solving-deadlock-scenarios</a:t>
            </a:r>
            <a:endParaRPr lang="de-DE" dirty="0"/>
          </a:p>
        </p:txBody>
      </p:sp>
      <p:pic>
        <p:nvPicPr>
          <p:cNvPr id="4" name="Grafik 3" descr="Ein Bild, das Muster, Quadrat, Symmetrie, Kunst enthält.&#10;&#10;KI-generierte Inhalte können fehlerhaft sein.">
            <a:extLst>
              <a:ext uri="{FF2B5EF4-FFF2-40B4-BE49-F238E27FC236}">
                <a16:creationId xmlns:a16="http://schemas.microsoft.com/office/drawing/2014/main" id="{1623D023-1BCC-DD04-88FA-6AEA0309D7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75278" y="4347184"/>
            <a:ext cx="1890104" cy="189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06354"/>
      </p:ext>
    </p:extLst>
  </p:cSld>
  <p:clrMapOvr>
    <a:masterClrMapping/>
  </p:clrMapOvr>
</p:sld>
</file>

<file path=ppt/theme/theme1.xml><?xml version="1.0" encoding="utf-8"?>
<a:theme xmlns:a="http://schemas.openxmlformats.org/drawingml/2006/main" name="db Berater GmbH">
  <a:themeElements>
    <a:clrScheme name="Lariss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enutzerdefiniert 2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b-berater" id="{A415B4FD-AA9B-4461-AC2B-36ED5617A0E3}" vid="{018F950C-F5FA-4D6B-B0C1-0DCF0BD05116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Microsoft SQL Server Statistics - EN</Template>
  <TotalTime>0</TotalTime>
  <Words>2264</Words>
  <Application>Microsoft Office PowerPoint</Application>
  <PresentationFormat>Breitbild</PresentationFormat>
  <Paragraphs>595</Paragraphs>
  <Slides>37</Slides>
  <Notes>2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37</vt:i4>
      </vt:variant>
    </vt:vector>
  </HeadingPairs>
  <TitlesOfParts>
    <vt:vector size="44" baseType="lpstr">
      <vt:lpstr>Aptos</vt:lpstr>
      <vt:lpstr>Arial</vt:lpstr>
      <vt:lpstr>Calibri</vt:lpstr>
      <vt:lpstr>Cascadia Mono</vt:lpstr>
      <vt:lpstr>Lucida Console</vt:lpstr>
      <vt:lpstr>Segoe UI</vt:lpstr>
      <vt:lpstr>db Berater GmbH</vt:lpstr>
      <vt:lpstr>Deadlock Scenarios</vt:lpstr>
      <vt:lpstr>Links for this Session/Workshop</vt:lpstr>
      <vt:lpstr>Uwe Ricken db Berater GmbH</vt:lpstr>
      <vt:lpstr>Challenge SQL Server real world scenarios</vt:lpstr>
      <vt:lpstr>SQL Server for Juniors, Managers &amp; Consultants</vt:lpstr>
      <vt:lpstr>Agenda</vt:lpstr>
      <vt:lpstr>Lock Types</vt:lpstr>
      <vt:lpstr>Lock Types</vt:lpstr>
      <vt:lpstr>Lock Status</vt:lpstr>
      <vt:lpstr>Locking Hierarchy</vt:lpstr>
      <vt:lpstr>Locking Hierarchy</vt:lpstr>
      <vt:lpstr>Lock Escalation</vt:lpstr>
      <vt:lpstr>Transaction Isolation Levels</vt:lpstr>
      <vt:lpstr>Transaction Isolation Levels</vt:lpstr>
      <vt:lpstr>Dirty Reads</vt:lpstr>
      <vt:lpstr>Phantom Reads</vt:lpstr>
      <vt:lpstr>Transaction Isolation Levels</vt:lpstr>
      <vt:lpstr>Deadlocks</vt:lpstr>
      <vt:lpstr>The Dining Philosophers</vt:lpstr>
      <vt:lpstr>Jacky with Cola…</vt:lpstr>
      <vt:lpstr>Common Deadlock Scenarios</vt:lpstr>
      <vt:lpstr>Classic Deadlock Scenario</vt:lpstr>
      <vt:lpstr>Classic Deadlock</vt:lpstr>
      <vt:lpstr>Classic Deadlock</vt:lpstr>
      <vt:lpstr>Classic Deadlock</vt:lpstr>
      <vt:lpstr>Prevent “classic” Deadlocks</vt:lpstr>
      <vt:lpstr>Foreign Key Deadlock</vt:lpstr>
      <vt:lpstr>Foreign Key Deadlock</vt:lpstr>
      <vt:lpstr>Foreign Key Deadlock</vt:lpstr>
      <vt:lpstr>Foreign Key Deadlock</vt:lpstr>
      <vt:lpstr>Foreign Key Deadlock</vt:lpstr>
      <vt:lpstr>Prevent “Foreign Key” Deadlocks</vt:lpstr>
      <vt:lpstr>Deadlock with Bookmark/Key Lookup</vt:lpstr>
      <vt:lpstr>Deadlock with Bookmark/Key Lookup</vt:lpstr>
      <vt:lpstr>Index Key Deadlock</vt:lpstr>
      <vt:lpstr>Serializable Transaction Deadlocks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Uwe Ricken</dc:creator>
  <cp:lastModifiedBy>Uwe Ricken</cp:lastModifiedBy>
  <cp:revision>6</cp:revision>
  <dcterms:created xsi:type="dcterms:W3CDTF">2025-01-15T07:42:17Z</dcterms:created>
  <dcterms:modified xsi:type="dcterms:W3CDTF">2026-10-11T05:48:28Z</dcterms:modified>
</cp:coreProperties>
</file>